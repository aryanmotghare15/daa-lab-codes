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353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Merge Sort, a classic Divide and Conquer sorting algorithm studied in DAA. We will see the idea, a worked example, pseudocode, complexity analysis, pros and cons, and a comparison with other sorts.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sorts by splitting the array in halves, sorting each half and merging. It only uses comparisons between elements. Sorting matters because searching, databases and many other algorithms rely on sorted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steps. Divide: split into two halves. Conquer: recursively sort each half; a single element is already sorted. Combine: merge two sorted halves into one sorted array. The real work happens in the combine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The array [38,27,43,3,9,82,10] has 7 elements. mid = floor((0+6)/2) = 3, so left is [38,27,43,3] and right is [9,82,10]. Keep splitting until single elements. Then merge upward, always producing sorted subarrays. All 7 elements appear in every row and the final array is [3,9,10,27,38,43,82].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merge: L = [3,27,38,43] and R = [9,10,82]. Two pointers i and j point at the smallest unused element of each list. Each step compare L[i] and R[j], copy the smaller to A, move that pointer. When one list is empty, copy the rest of the other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case: if left &gt;= right the subarray has 0 or 1 element and is already sorted. Otherwise find mid, recursively sort both halves, then MERGE. MERGE copies the two halves into temporary arrays L and R and repeatedly copies the smaller front element back into A. Using &lt;= when comparing keeps the sort stable. Indices here start at 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is halved each level, so there are log n levels. At each level merging touches all n elements, costing O(n). Total O(n log n). It does the same work whatever the input order, so best, average and worst are the same. The temporary arrays need O(n) extra space.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guarantees O(n log n) regardless of input, and it is stable, which matters when sorting records by multiple keys. It suits linked lists because merging needs no random access. The drawbacks: extra memory for arrays, recursion overhead, and it is usually not in-place.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external sorting when data does not fit in RAM, sorting linked lists, and any task needing stability. In the table, bubble sort best case O(n) assumes an early-exit flag. Quick sort worst case O(n^2) happens with bad pivots. Memory use and practical speed depend 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Merge Sort uses divide, conquer and combine; it is correct because merging two sorted lists gives a sorted list; and it always runs in O(n log n) time. Close with references and the AI attribution.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on Merge Sort.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70C"/>
        </a:solidFill>
        <a:effectLst/>
      </p:bgPr>
    </p:bg>
    <p:spTree>
      <p:nvGrpSpPr>
        <p:cNvPr id="1" name=""/>
        <p:cNvGrpSpPr/>
        <p:nvPr/>
      </p:nvGrpSpPr>
      <p:grpSpPr>
        <a:xfrm>
          <a:off x="0" y="0"/>
          <a:ext cx="0" cy="0"/>
          <a:chOff x="0" y="0"/>
          <a:chExt cx="0" cy="0"/>
        </a:xfrm>
      </p:grpSpPr>
      <p:sp>
        <p:nvSpPr>
          <p:cNvPr id="2" name="Shape 0"/>
          <p:cNvSpPr/>
          <p:nvPr/>
        </p:nvSpPr>
        <p:spPr>
          <a:xfrm>
            <a:off x="6035040" y="457200"/>
            <a:ext cx="2926080" cy="2926080"/>
          </a:xfrm>
          <a:prstGeom prst="ellipse">
            <a:avLst/>
          </a:prstGeom>
          <a:solidFill>
            <a:srgbClr val="F472B6">
              <a:alpha val="25000"/>
            </a:srgbClr>
          </a:solidFill>
          <a:ln w="12700">
            <a:solidFill>
              <a:srgbClr val="F472B6"/>
            </a:solidFill>
            <a:prstDash val="solid"/>
          </a:ln>
        </p:spPr>
      </p:sp>
      <p:sp>
        <p:nvSpPr>
          <p:cNvPr id="3" name="Shape 1"/>
          <p:cNvSpPr/>
          <p:nvPr/>
        </p:nvSpPr>
        <p:spPr>
          <a:xfrm>
            <a:off x="6949440" y="2194560"/>
            <a:ext cx="2011680" cy="2011680"/>
          </a:xfrm>
          <a:prstGeom prst="ellipse">
            <a:avLst/>
          </a:prstGeom>
          <a:solidFill>
            <a:srgbClr val="22D3EE">
              <a:alpha val="30000"/>
            </a:srgbClr>
          </a:solidFill>
          <a:ln w="12700">
            <a:solidFill>
              <a:srgbClr val="22D3EE"/>
            </a:solidFill>
            <a:prstDash val="solid"/>
          </a:ln>
        </p:spPr>
      </p:sp>
      <p:sp>
        <p:nvSpPr>
          <p:cNvPr id="4" name="Shape 2"/>
          <p:cNvSpPr/>
          <p:nvPr/>
        </p:nvSpPr>
        <p:spPr>
          <a:xfrm>
            <a:off x="5577840" y="4160520"/>
            <a:ext cx="457200" cy="411480"/>
          </a:xfrm>
          <a:prstGeom prst="roundRect">
            <a:avLst>
              <a:gd name="adj" fmla="val 13333"/>
            </a:avLst>
          </a:prstGeom>
          <a:solidFill>
            <a:srgbClr val="16161F"/>
          </a:solidFill>
          <a:ln w="6350">
            <a:solidFill>
              <a:srgbClr val="16161F"/>
            </a:solidFill>
            <a:prstDash val="solid"/>
          </a:ln>
        </p:spPr>
      </p:sp>
      <p:sp>
        <p:nvSpPr>
          <p:cNvPr id="5" name="Text 3"/>
          <p:cNvSpPr txBox="1"/>
          <p:nvPr/>
        </p:nvSpPr>
        <p:spPr>
          <a:xfrm>
            <a:off x="5577840" y="4160520"/>
            <a:ext cx="457200" cy="411480"/>
          </a:xfrm>
          <a:prstGeom prst="rect">
            <a:avLst/>
          </a:prstGeom>
          <a:noFill/>
          <a:ln/>
        </p:spPr>
        <p:txBody>
          <a:bodyPr wrap="square" lIns="0" tIns="0" rIns="0" bIns="0" rtlCol="0" anchor="ctr"/>
          <a:lstStyle/>
          <a:p>
            <a:pPr marL="0" indent="0" algn="ctr">
              <a:buNone/>
            </a:pPr>
            <a:r>
              <a:rPr lang="en-US" sz="1400" b="1" dirty="0">
                <a:solidFill>
                  <a:srgbClr val="B4B4C6"/>
                </a:solidFill>
                <a:latin typeface="Calibri" pitchFamily="34" charset="0"/>
                <a:ea typeface="Calibri" pitchFamily="34" charset="-122"/>
                <a:cs typeface="Calibri" pitchFamily="34" charset="-120"/>
              </a:rPr>
              <a:t>38</a:t>
            </a:r>
            <a:endParaRPr lang="en-US" sz="1400" dirty="0"/>
          </a:p>
        </p:txBody>
      </p:sp>
      <p:sp>
        <p:nvSpPr>
          <p:cNvPr id="6" name="Shape 4"/>
          <p:cNvSpPr/>
          <p:nvPr/>
        </p:nvSpPr>
        <p:spPr>
          <a:xfrm>
            <a:off x="6126480" y="4160520"/>
            <a:ext cx="457200" cy="411480"/>
          </a:xfrm>
          <a:prstGeom prst="roundRect">
            <a:avLst>
              <a:gd name="adj" fmla="val 13333"/>
            </a:avLst>
          </a:prstGeom>
          <a:solidFill>
            <a:srgbClr val="16161F"/>
          </a:solidFill>
          <a:ln w="6350">
            <a:solidFill>
              <a:srgbClr val="16161F"/>
            </a:solidFill>
            <a:prstDash val="solid"/>
          </a:ln>
        </p:spPr>
      </p:sp>
      <p:sp>
        <p:nvSpPr>
          <p:cNvPr id="7" name="Text 5"/>
          <p:cNvSpPr txBox="1"/>
          <p:nvPr/>
        </p:nvSpPr>
        <p:spPr>
          <a:xfrm>
            <a:off x="6126480" y="4160520"/>
            <a:ext cx="457200" cy="411480"/>
          </a:xfrm>
          <a:prstGeom prst="rect">
            <a:avLst/>
          </a:prstGeom>
          <a:noFill/>
          <a:ln/>
        </p:spPr>
        <p:txBody>
          <a:bodyPr wrap="square" lIns="0" tIns="0" rIns="0" bIns="0" rtlCol="0" anchor="ctr"/>
          <a:lstStyle/>
          <a:p>
            <a:pPr marL="0" indent="0" algn="ctr">
              <a:buNone/>
            </a:pPr>
            <a:r>
              <a:rPr lang="en-US" sz="1400" b="1" dirty="0">
                <a:solidFill>
                  <a:srgbClr val="B4B4C6"/>
                </a:solidFill>
                <a:latin typeface="Calibri" pitchFamily="34" charset="0"/>
                <a:ea typeface="Calibri" pitchFamily="34" charset="-122"/>
                <a:cs typeface="Calibri" pitchFamily="34" charset="-120"/>
              </a:rPr>
              <a:t>27</a:t>
            </a:r>
            <a:endParaRPr lang="en-US" sz="1400" dirty="0"/>
          </a:p>
        </p:txBody>
      </p:sp>
      <p:sp>
        <p:nvSpPr>
          <p:cNvPr id="8" name="Shape 6"/>
          <p:cNvSpPr/>
          <p:nvPr/>
        </p:nvSpPr>
        <p:spPr>
          <a:xfrm>
            <a:off x="6675120" y="4160520"/>
            <a:ext cx="457200" cy="411480"/>
          </a:xfrm>
          <a:prstGeom prst="roundRect">
            <a:avLst>
              <a:gd name="adj" fmla="val 13333"/>
            </a:avLst>
          </a:prstGeom>
          <a:solidFill>
            <a:srgbClr val="16161F"/>
          </a:solidFill>
          <a:ln w="6350">
            <a:solidFill>
              <a:srgbClr val="16161F"/>
            </a:solidFill>
            <a:prstDash val="solid"/>
          </a:ln>
        </p:spPr>
      </p:sp>
      <p:sp>
        <p:nvSpPr>
          <p:cNvPr id="9" name="Text 7"/>
          <p:cNvSpPr txBox="1"/>
          <p:nvPr/>
        </p:nvSpPr>
        <p:spPr>
          <a:xfrm>
            <a:off x="6675120" y="4160520"/>
            <a:ext cx="457200" cy="411480"/>
          </a:xfrm>
          <a:prstGeom prst="rect">
            <a:avLst/>
          </a:prstGeom>
          <a:noFill/>
          <a:ln/>
        </p:spPr>
        <p:txBody>
          <a:bodyPr wrap="square" lIns="0" tIns="0" rIns="0" bIns="0" rtlCol="0" anchor="ctr"/>
          <a:lstStyle/>
          <a:p>
            <a:pPr marL="0" indent="0" algn="ctr">
              <a:buNone/>
            </a:pPr>
            <a:r>
              <a:rPr lang="en-US" sz="1400" b="1" dirty="0">
                <a:solidFill>
                  <a:srgbClr val="B4B4C6"/>
                </a:solidFill>
                <a:latin typeface="Calibri" pitchFamily="34" charset="0"/>
                <a:ea typeface="Calibri" pitchFamily="34" charset="-122"/>
                <a:cs typeface="Calibri" pitchFamily="34" charset="-120"/>
              </a:rPr>
              <a:t>43</a:t>
            </a:r>
            <a:endParaRPr lang="en-US" sz="1400" dirty="0"/>
          </a:p>
        </p:txBody>
      </p:sp>
      <p:sp>
        <p:nvSpPr>
          <p:cNvPr id="10" name="Shape 8"/>
          <p:cNvSpPr/>
          <p:nvPr/>
        </p:nvSpPr>
        <p:spPr>
          <a:xfrm>
            <a:off x="7223760" y="4160520"/>
            <a:ext cx="457200" cy="411480"/>
          </a:xfrm>
          <a:prstGeom prst="roundRect">
            <a:avLst>
              <a:gd name="adj" fmla="val 13333"/>
            </a:avLst>
          </a:prstGeom>
          <a:solidFill>
            <a:srgbClr val="16161F"/>
          </a:solidFill>
          <a:ln w="6350">
            <a:solidFill>
              <a:srgbClr val="16161F"/>
            </a:solidFill>
            <a:prstDash val="solid"/>
          </a:ln>
        </p:spPr>
      </p:sp>
      <p:sp>
        <p:nvSpPr>
          <p:cNvPr id="11" name="Text 9"/>
          <p:cNvSpPr txBox="1"/>
          <p:nvPr/>
        </p:nvSpPr>
        <p:spPr>
          <a:xfrm>
            <a:off x="7223760" y="4160520"/>
            <a:ext cx="457200" cy="411480"/>
          </a:xfrm>
          <a:prstGeom prst="rect">
            <a:avLst/>
          </a:prstGeom>
          <a:noFill/>
          <a:ln/>
        </p:spPr>
        <p:txBody>
          <a:bodyPr wrap="square" lIns="0" tIns="0" rIns="0" bIns="0" rtlCol="0" anchor="ctr"/>
          <a:lstStyle/>
          <a:p>
            <a:pPr marL="0" indent="0" algn="ctr">
              <a:buNone/>
            </a:pPr>
            <a:r>
              <a:rPr lang="en-US" sz="1400" b="1" dirty="0">
                <a:solidFill>
                  <a:srgbClr val="B4B4C6"/>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548640" y="822960"/>
            <a:ext cx="5486400" cy="91440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Merge Sort</a:t>
            </a:r>
            <a:endParaRPr lang="en-US" sz="5400" dirty="0"/>
          </a:p>
        </p:txBody>
      </p:sp>
      <p:sp>
        <p:nvSpPr>
          <p:cNvPr id="13" name="Text 11"/>
          <p:cNvSpPr txBox="1"/>
          <p:nvPr/>
        </p:nvSpPr>
        <p:spPr>
          <a:xfrm>
            <a:off x="548640" y="1828800"/>
            <a:ext cx="5486400" cy="365760"/>
          </a:xfrm>
          <a:prstGeom prst="rect">
            <a:avLst/>
          </a:prstGeom>
          <a:noFill/>
          <a:ln/>
        </p:spPr>
        <p:txBody>
          <a:bodyPr wrap="square" lIns="0" tIns="0" rIns="0" bIns="0" rtlCol="0" anchor="t"/>
          <a:lstStyle/>
          <a:p>
            <a:pPr marL="0" indent="0">
              <a:buNone/>
            </a:pPr>
            <a:r>
              <a:rPr lang="en-US" sz="1800" b="1" dirty="0">
                <a:solidFill>
                  <a:srgbClr val="22D3EE"/>
                </a:solidFill>
                <a:latin typeface="Calibri" pitchFamily="34" charset="0"/>
                <a:ea typeface="Calibri" pitchFamily="34" charset="-122"/>
                <a:cs typeface="Calibri" pitchFamily="34" charset="-120"/>
              </a:rPr>
              <a:t>Design and Analysis of Algorithms (DAA) Lab</a:t>
            </a:r>
            <a:endParaRPr lang="en-US" sz="1800" dirty="0"/>
          </a:p>
        </p:txBody>
      </p:sp>
      <p:sp>
        <p:nvSpPr>
          <p:cNvPr id="14" name="Text 12"/>
          <p:cNvSpPr txBox="1"/>
          <p:nvPr/>
        </p:nvSpPr>
        <p:spPr>
          <a:xfrm>
            <a:off x="548640" y="2377440"/>
            <a:ext cx="5486400" cy="1783080"/>
          </a:xfrm>
          <a:prstGeom prst="rect">
            <a:avLst/>
          </a:prstGeom>
          <a:noFill/>
          <a:ln/>
        </p:spPr>
        <p:txBody>
          <a:bodyPr wrap="square" lIns="0" tIns="0" rIns="0" bIns="0" rtlCol="0" anchor="t"/>
          <a:lstStyle/>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Presented by: Aryan Motghare</a:t>
            </a:r>
            <a:endParaRPr lang="en-US" sz="1400" dirty="0"/>
          </a:p>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Program: B.Tech CSE</a:t>
            </a:r>
            <a:endParaRPr lang="en-US" sz="1400" dirty="0"/>
          </a:p>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PRN: 25070521307</a:t>
            </a:r>
            <a:endParaRPr lang="en-US" sz="1400" dirty="0"/>
          </a:p>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Sem: III</a:t>
            </a:r>
            <a:endParaRPr lang="en-US" sz="1400" dirty="0"/>
          </a:p>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Sec: D</a:t>
            </a:r>
            <a:endParaRPr lang="en-US" sz="1400" dirty="0"/>
          </a:p>
          <a:p>
            <a:pPr marL="0" indent="0">
              <a:spcAft>
                <a:spcPts val="200"/>
              </a:spcAft>
              <a:buNone/>
            </a:pPr>
            <a:r>
              <a:rPr lang="en-US" sz="1400" dirty="0">
                <a:solidFill>
                  <a:srgbClr val="B4B4C6"/>
                </a:solidFill>
                <a:latin typeface="Calibri" pitchFamily="34" charset="0"/>
                <a:ea typeface="Calibri" pitchFamily="34" charset="-122"/>
                <a:cs typeface="Calibri" pitchFamily="34" charset="-120"/>
              </a:rPr>
              <a:t>Symbiosis Institute of Technology, Nagpur</a:t>
            </a:r>
            <a:endParaRPr lang="en-US" sz="1400" dirty="0"/>
          </a:p>
        </p:txBody>
      </p:sp>
      <p:sp>
        <p:nvSpPr>
          <p:cNvPr id="15" name="Text 13"/>
          <p:cNvSpPr txBox="1"/>
          <p:nvPr/>
        </p:nvSpPr>
        <p:spPr>
          <a:xfrm>
            <a:off x="548640" y="4297680"/>
            <a:ext cx="4114800" cy="320040"/>
          </a:xfrm>
          <a:prstGeom prst="rect">
            <a:avLst/>
          </a:prstGeom>
          <a:noFill/>
          <a:ln/>
        </p:spPr>
        <p:txBody>
          <a:bodyPr wrap="square" lIns="0" tIns="0" rIns="0" bIns="0" rtlCol="0" anchor="t"/>
          <a:lstStyle/>
          <a:p>
            <a:pPr marL="0" indent="0">
              <a:buNone/>
            </a:pPr>
            <a:r>
              <a:rPr lang="en-US" sz="1300" b="1" i="1" dirty="0">
                <a:solidFill>
                  <a:srgbClr val="F472B6"/>
                </a:solidFill>
                <a:latin typeface="Calibri" pitchFamily="34" charset="0"/>
                <a:ea typeface="Calibri" pitchFamily="34" charset="-122"/>
                <a:cs typeface="Calibri" pitchFamily="34" charset="-120"/>
              </a:rPr>
              <a:t>Generated using Claude 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Introduction to Merge Sort</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457200" y="1143000"/>
            <a:ext cx="4206240" cy="3383280"/>
          </a:xfrm>
          <a:prstGeom prst="roundRect">
            <a:avLst>
              <a:gd name="adj" fmla="val 3243"/>
            </a:avLst>
          </a:prstGeom>
          <a:solidFill>
            <a:srgbClr val="16161F"/>
          </a:solidFill>
          <a:ln w="6350">
            <a:solidFill>
              <a:srgbClr val="16161F"/>
            </a:solidFill>
            <a:prstDash val="solid"/>
          </a:ln>
        </p:spPr>
      </p:sp>
      <p:sp>
        <p:nvSpPr>
          <p:cNvPr id="7" name="Text 4"/>
          <p:cNvSpPr txBox="1"/>
          <p:nvPr/>
        </p:nvSpPr>
        <p:spPr>
          <a:xfrm>
            <a:off x="685800" y="1280160"/>
            <a:ext cx="3749040" cy="365760"/>
          </a:xfrm>
          <a:prstGeom prst="rect">
            <a:avLst/>
          </a:prstGeom>
          <a:noFill/>
          <a:ln/>
        </p:spPr>
        <p:txBody>
          <a:bodyPr wrap="square" lIns="0" tIns="0" rIns="0" bIns="0" rtlCol="0" anchor="t"/>
          <a:lstStyle/>
          <a:p>
            <a:pPr marL="0" indent="0">
              <a:buNone/>
            </a:pPr>
            <a:r>
              <a:rPr lang="en-US" sz="2000" b="1" dirty="0">
                <a:solidFill>
                  <a:srgbClr val="22D3EE"/>
                </a:solidFill>
                <a:latin typeface="Cambria" pitchFamily="34" charset="0"/>
                <a:ea typeface="Cambria" pitchFamily="34" charset="-122"/>
                <a:cs typeface="Cambria" pitchFamily="34" charset="-120"/>
              </a:rPr>
              <a:t>What is it?</a:t>
            </a:r>
            <a:endParaRPr lang="en-US" sz="2000" dirty="0"/>
          </a:p>
        </p:txBody>
      </p:sp>
      <p:sp>
        <p:nvSpPr>
          <p:cNvPr id="8" name="Text 5"/>
          <p:cNvSpPr txBox="1"/>
          <p:nvPr/>
        </p:nvSpPr>
        <p:spPr>
          <a:xfrm>
            <a:off x="685800" y="1737360"/>
            <a:ext cx="3749040"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 comparison-based sorting algorithm</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Uses Divide and Conquer: split, sort, merge</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Created by John von Neumann (1945)</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Stable: equal elements keep their order</a:t>
            </a:r>
            <a:endParaRPr lang="en-US" sz="1500" dirty="0"/>
          </a:p>
        </p:txBody>
      </p:sp>
      <p:sp>
        <p:nvSpPr>
          <p:cNvPr id="9" name="Shape 6"/>
          <p:cNvSpPr/>
          <p:nvPr/>
        </p:nvSpPr>
        <p:spPr>
          <a:xfrm>
            <a:off x="4937760" y="1143000"/>
            <a:ext cx="3749040" cy="1600200"/>
          </a:xfrm>
          <a:prstGeom prst="roundRect">
            <a:avLst>
              <a:gd name="adj" fmla="val 6857"/>
            </a:avLst>
          </a:prstGeom>
          <a:solidFill>
            <a:srgbClr val="16161F"/>
          </a:solidFill>
          <a:ln w="15875">
            <a:solidFill>
              <a:srgbClr val="F472B6"/>
            </a:solidFill>
            <a:prstDash val="solid"/>
          </a:ln>
        </p:spPr>
      </p:sp>
      <p:sp>
        <p:nvSpPr>
          <p:cNvPr id="10" name="Text 7"/>
          <p:cNvSpPr txBox="1"/>
          <p:nvPr/>
        </p:nvSpPr>
        <p:spPr>
          <a:xfrm>
            <a:off x="5166360" y="1280160"/>
            <a:ext cx="3291840" cy="365760"/>
          </a:xfrm>
          <a:prstGeom prst="rect">
            <a:avLst/>
          </a:prstGeom>
          <a:noFill/>
          <a:ln/>
        </p:spPr>
        <p:txBody>
          <a:bodyPr wrap="square" lIns="0" tIns="0" rIns="0" bIns="0" rtlCol="0" anchor="t"/>
          <a:lstStyle/>
          <a:p>
            <a:pPr marL="0" indent="0">
              <a:buNone/>
            </a:pPr>
            <a:r>
              <a:rPr lang="en-US" sz="2000" b="1" dirty="0">
                <a:solidFill>
                  <a:srgbClr val="F472B6"/>
                </a:solidFill>
                <a:latin typeface="Cambria" pitchFamily="34" charset="0"/>
                <a:ea typeface="Cambria" pitchFamily="34" charset="-122"/>
                <a:cs typeface="Cambria" pitchFamily="34" charset="-120"/>
              </a:rPr>
              <a:t>Why sorting matters</a:t>
            </a:r>
            <a:endParaRPr lang="en-US" sz="2000" dirty="0"/>
          </a:p>
        </p:txBody>
      </p:sp>
      <p:sp>
        <p:nvSpPr>
          <p:cNvPr id="11" name="Text 8"/>
          <p:cNvSpPr txBox="1"/>
          <p:nvPr/>
        </p:nvSpPr>
        <p:spPr>
          <a:xfrm>
            <a:off x="5166360" y="1691640"/>
            <a:ext cx="3383280" cy="1005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Faster searching (binary search)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Easier data analysis and reporting</a:t>
            </a:r>
            <a:endParaRPr lang="en-US" sz="1400" dirty="0"/>
          </a:p>
        </p:txBody>
      </p:sp>
      <p:sp>
        <p:nvSpPr>
          <p:cNvPr id="12" name="Shape 9"/>
          <p:cNvSpPr/>
          <p:nvPr/>
        </p:nvSpPr>
        <p:spPr>
          <a:xfrm>
            <a:off x="4937760" y="2926080"/>
            <a:ext cx="3749040" cy="1600200"/>
          </a:xfrm>
          <a:prstGeom prst="roundRect">
            <a:avLst>
              <a:gd name="adj" fmla="val 6857"/>
            </a:avLst>
          </a:prstGeom>
          <a:solidFill>
            <a:srgbClr val="16161F"/>
          </a:solidFill>
          <a:ln w="6350">
            <a:solidFill>
              <a:srgbClr val="16161F"/>
            </a:solidFill>
            <a:prstDash val="solid"/>
          </a:ln>
        </p:spPr>
      </p:sp>
      <p:sp>
        <p:nvSpPr>
          <p:cNvPr id="13" name="Text 10"/>
          <p:cNvSpPr txBox="1"/>
          <p:nvPr/>
        </p:nvSpPr>
        <p:spPr>
          <a:xfrm>
            <a:off x="5166360" y="3017520"/>
            <a:ext cx="3291840" cy="365760"/>
          </a:xfrm>
          <a:prstGeom prst="rect">
            <a:avLst/>
          </a:prstGeom>
          <a:noFill/>
          <a:ln/>
        </p:spPr>
        <p:txBody>
          <a:bodyPr wrap="square" lIns="0" tIns="0" rIns="0" bIns="0" rtlCol="0" anchor="t"/>
          <a:lstStyle/>
          <a:p>
            <a:pPr marL="0" indent="0">
              <a:buNone/>
            </a:pPr>
            <a:r>
              <a:rPr lang="en-US" sz="2000" b="1" dirty="0">
                <a:solidFill>
                  <a:srgbClr val="22D3EE"/>
                </a:solidFill>
                <a:latin typeface="Cambria" pitchFamily="34" charset="0"/>
                <a:ea typeface="Cambria" pitchFamily="34" charset="-122"/>
                <a:cs typeface="Cambria" pitchFamily="34" charset="-120"/>
              </a:rPr>
              <a:t>Key idea</a:t>
            </a:r>
            <a:endParaRPr lang="en-US" sz="2000" dirty="0"/>
          </a:p>
        </p:txBody>
      </p:sp>
      <p:sp>
        <p:nvSpPr>
          <p:cNvPr id="14" name="Shape 11"/>
          <p:cNvSpPr/>
          <p:nvPr/>
        </p:nvSpPr>
        <p:spPr>
          <a:xfrm>
            <a:off x="5166360" y="3520440"/>
            <a:ext cx="502920" cy="411480"/>
          </a:xfrm>
          <a:prstGeom prst="roundRect">
            <a:avLst>
              <a:gd name="adj" fmla="val 13333"/>
            </a:avLst>
          </a:prstGeom>
          <a:solidFill>
            <a:srgbClr val="F472B6"/>
          </a:solidFill>
          <a:ln w="6350">
            <a:solidFill>
              <a:srgbClr val="F472B6"/>
            </a:solidFill>
            <a:prstDash val="solid"/>
          </a:ln>
        </p:spPr>
      </p:sp>
      <p:sp>
        <p:nvSpPr>
          <p:cNvPr id="15" name="Text 12"/>
          <p:cNvSpPr txBox="1"/>
          <p:nvPr/>
        </p:nvSpPr>
        <p:spPr>
          <a:xfrm>
            <a:off x="5166360" y="3520440"/>
            <a:ext cx="50292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5760720" y="3520440"/>
            <a:ext cx="502920" cy="411480"/>
          </a:xfrm>
          <a:prstGeom prst="roundRect">
            <a:avLst>
              <a:gd name="adj" fmla="val 13333"/>
            </a:avLst>
          </a:prstGeom>
          <a:solidFill>
            <a:srgbClr val="F472B6"/>
          </a:solidFill>
          <a:ln w="6350">
            <a:solidFill>
              <a:srgbClr val="F472B6"/>
            </a:solidFill>
            <a:prstDash val="solid"/>
          </a:ln>
        </p:spPr>
      </p:sp>
      <p:sp>
        <p:nvSpPr>
          <p:cNvPr id="17" name="Text 14"/>
          <p:cNvSpPr txBox="1"/>
          <p:nvPr/>
        </p:nvSpPr>
        <p:spPr>
          <a:xfrm>
            <a:off x="5760720" y="3520440"/>
            <a:ext cx="50292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5</a:t>
            </a:r>
            <a:endParaRPr lang="en-US" sz="1400" dirty="0"/>
          </a:p>
        </p:txBody>
      </p:sp>
      <p:sp>
        <p:nvSpPr>
          <p:cNvPr id="18" name="Text 15"/>
          <p:cNvSpPr txBox="1"/>
          <p:nvPr/>
        </p:nvSpPr>
        <p:spPr>
          <a:xfrm>
            <a:off x="6217920" y="3520440"/>
            <a:ext cx="365760" cy="41148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9" name="Shape 16"/>
          <p:cNvSpPr/>
          <p:nvPr/>
        </p:nvSpPr>
        <p:spPr>
          <a:xfrm>
            <a:off x="6675120" y="3520440"/>
            <a:ext cx="502920" cy="411480"/>
          </a:xfrm>
          <a:prstGeom prst="roundRect">
            <a:avLst>
              <a:gd name="adj" fmla="val 13333"/>
            </a:avLst>
          </a:prstGeom>
          <a:solidFill>
            <a:srgbClr val="F472B6"/>
          </a:solidFill>
          <a:ln w="6350">
            <a:solidFill>
              <a:srgbClr val="F472B6"/>
            </a:solidFill>
            <a:prstDash val="solid"/>
          </a:ln>
        </p:spPr>
      </p:sp>
      <p:sp>
        <p:nvSpPr>
          <p:cNvPr id="20" name="Text 17"/>
          <p:cNvSpPr txBox="1"/>
          <p:nvPr/>
        </p:nvSpPr>
        <p:spPr>
          <a:xfrm>
            <a:off x="6675120" y="3520440"/>
            <a:ext cx="50292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a:t>
            </a:r>
            <a:endParaRPr lang="en-US" sz="1400" dirty="0"/>
          </a:p>
        </p:txBody>
      </p:sp>
      <p:sp>
        <p:nvSpPr>
          <p:cNvPr id="21" name="Shape 18"/>
          <p:cNvSpPr/>
          <p:nvPr/>
        </p:nvSpPr>
        <p:spPr>
          <a:xfrm>
            <a:off x="7269480" y="3520440"/>
            <a:ext cx="502920" cy="411480"/>
          </a:xfrm>
          <a:prstGeom prst="roundRect">
            <a:avLst>
              <a:gd name="adj" fmla="val 13333"/>
            </a:avLst>
          </a:prstGeom>
          <a:solidFill>
            <a:srgbClr val="F472B6"/>
          </a:solidFill>
          <a:ln w="6350">
            <a:solidFill>
              <a:srgbClr val="F472B6"/>
            </a:solidFill>
            <a:prstDash val="solid"/>
          </a:ln>
        </p:spPr>
      </p:sp>
      <p:sp>
        <p:nvSpPr>
          <p:cNvPr id="22" name="Text 19"/>
          <p:cNvSpPr txBox="1"/>
          <p:nvPr/>
        </p:nvSpPr>
        <p:spPr>
          <a:xfrm>
            <a:off x="7269480" y="3520440"/>
            <a:ext cx="50292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a:t>
            </a:r>
            <a:endParaRPr lang="en-US" sz="1400" dirty="0"/>
          </a:p>
        </p:txBody>
      </p:sp>
      <p:sp>
        <p:nvSpPr>
          <p:cNvPr id="23" name="Text 20"/>
          <p:cNvSpPr txBox="1"/>
          <p:nvPr/>
        </p:nvSpPr>
        <p:spPr>
          <a:xfrm>
            <a:off x="5166360" y="4023360"/>
            <a:ext cx="3383280" cy="411480"/>
          </a:xfrm>
          <a:prstGeom prst="rect">
            <a:avLst/>
          </a:prstGeom>
          <a:noFill/>
          <a:ln/>
        </p:spPr>
        <p:txBody>
          <a:bodyPr wrap="square" lIns="0" tIns="0" rIns="0" bIns="0" rtlCol="0" anchor="t"/>
          <a:lstStyle/>
          <a:p>
            <a:pPr marL="0" indent="0">
              <a:buNone/>
            </a:pPr>
            <a:r>
              <a:rPr lang="en-US" sz="1200" dirty="0">
                <a:solidFill>
                  <a:srgbClr val="B4B4C6"/>
                </a:solidFill>
                <a:latin typeface="Calibri" pitchFamily="34" charset="0"/>
                <a:ea typeface="Calibri" pitchFamily="34" charset="-122"/>
                <a:cs typeface="Calibri" pitchFamily="34" charset="-120"/>
              </a:rPr>
              <a:t>Merging two sorted lists gives one sorted list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Divide and Conquer Strategy</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457200" y="1188720"/>
            <a:ext cx="2468880" cy="2103120"/>
          </a:xfrm>
          <a:prstGeom prst="roundRect">
            <a:avLst>
              <a:gd name="adj" fmla="val 5217"/>
            </a:avLst>
          </a:prstGeom>
          <a:solidFill>
            <a:srgbClr val="16161F"/>
          </a:solidFill>
          <a:ln w="15875">
            <a:solidFill>
              <a:srgbClr val="22D3EE"/>
            </a:solidFill>
            <a:prstDash val="solid"/>
          </a:ln>
        </p:spPr>
      </p:sp>
      <p:sp>
        <p:nvSpPr>
          <p:cNvPr id="7" name="Shape 4"/>
          <p:cNvSpPr/>
          <p:nvPr/>
        </p:nvSpPr>
        <p:spPr>
          <a:xfrm>
            <a:off x="1325880" y="1325880"/>
            <a:ext cx="731520" cy="731520"/>
          </a:xfrm>
          <a:prstGeom prst="ellipse">
            <a:avLst/>
          </a:prstGeom>
          <a:solidFill>
            <a:srgbClr val="22D3EE"/>
          </a:solidFill>
          <a:ln w="6350">
            <a:solidFill>
              <a:srgbClr val="22D3EE"/>
            </a:solidFill>
            <a:prstDash val="solid"/>
          </a:ln>
        </p:spPr>
      </p:sp>
      <p:sp>
        <p:nvSpPr>
          <p:cNvPr id="8" name="Text 5"/>
          <p:cNvSpPr txBox="1"/>
          <p:nvPr/>
        </p:nvSpPr>
        <p:spPr>
          <a:xfrm>
            <a:off x="1325880" y="1325880"/>
            <a:ext cx="731520" cy="731520"/>
          </a:xfrm>
          <a:prstGeom prst="rect">
            <a:avLst/>
          </a:prstGeom>
          <a:noFill/>
          <a:ln/>
        </p:spPr>
        <p:txBody>
          <a:bodyPr wrap="square" lIns="0" tIns="0" rIns="0" bIns="0" rtlCol="0" anchor="ctr"/>
          <a:lstStyle/>
          <a:p>
            <a:pPr marL="0" indent="0" algn="ctr">
              <a:buNone/>
            </a:pPr>
            <a:r>
              <a:rPr lang="en-US" sz="2600" b="1" dirty="0">
                <a:solidFill>
                  <a:srgbClr val="07070C"/>
                </a:solidFill>
                <a:latin typeface="Calibri" pitchFamily="34" charset="0"/>
                <a:ea typeface="Calibri" pitchFamily="34" charset="-122"/>
                <a:cs typeface="Calibri" pitchFamily="34" charset="-120"/>
              </a:rPr>
              <a:t>1</a:t>
            </a:r>
            <a:endParaRPr lang="en-US" sz="2600" dirty="0"/>
          </a:p>
        </p:txBody>
      </p:sp>
      <p:sp>
        <p:nvSpPr>
          <p:cNvPr id="9" name="Text 6"/>
          <p:cNvSpPr txBox="1"/>
          <p:nvPr/>
        </p:nvSpPr>
        <p:spPr>
          <a:xfrm>
            <a:off x="457200" y="2194560"/>
            <a:ext cx="2468880" cy="365760"/>
          </a:xfrm>
          <a:prstGeom prst="rect">
            <a:avLst/>
          </a:prstGeom>
          <a:noFill/>
          <a:ln/>
        </p:spPr>
        <p:txBody>
          <a:bodyPr wrap="square" lIns="0" tIns="0" rIns="0" bIns="0" rtlCol="0" anchor="t"/>
          <a:lstStyle/>
          <a:p>
            <a:pPr marL="0" indent="0" algn="ctr">
              <a:buNone/>
            </a:pPr>
            <a:r>
              <a:rPr lang="en-US" sz="2000" b="1" dirty="0">
                <a:solidFill>
                  <a:srgbClr val="FFFFFF"/>
                </a:solidFill>
                <a:latin typeface="Cambria" pitchFamily="34" charset="0"/>
                <a:ea typeface="Cambria" pitchFamily="34" charset="-122"/>
                <a:cs typeface="Cambria" pitchFamily="34" charset="-120"/>
              </a:rPr>
              <a:t>Divide</a:t>
            </a:r>
            <a:endParaRPr lang="en-US" sz="2000" dirty="0"/>
          </a:p>
        </p:txBody>
      </p:sp>
      <p:sp>
        <p:nvSpPr>
          <p:cNvPr id="10" name="Text 7"/>
          <p:cNvSpPr txBox="1"/>
          <p:nvPr/>
        </p:nvSpPr>
        <p:spPr>
          <a:xfrm>
            <a:off x="640080" y="2606040"/>
            <a:ext cx="2103120" cy="640080"/>
          </a:xfrm>
          <a:prstGeom prst="rect">
            <a:avLst/>
          </a:prstGeom>
          <a:noFill/>
          <a:ln/>
        </p:spPr>
        <p:txBody>
          <a:bodyPr wrap="square" lIns="0" tIns="0" rIns="0" bIns="0" rtlCol="0" anchor="t"/>
          <a:lstStyle/>
          <a:p>
            <a:pPr marL="0" indent="0" algn="ctr">
              <a:buNone/>
            </a:pPr>
            <a:r>
              <a:rPr lang="en-US" sz="1400" dirty="0">
                <a:solidFill>
                  <a:srgbClr val="B4B4C6"/>
                </a:solidFill>
                <a:latin typeface="Calibri" pitchFamily="34" charset="0"/>
                <a:ea typeface="Calibri" pitchFamily="34" charset="-122"/>
                <a:cs typeface="Calibri" pitchFamily="34" charset="-120"/>
              </a:rPr>
              <a:t>Split the array into two smaller subarrays</a:t>
            </a:r>
            <a:endParaRPr lang="en-US" sz="1400" dirty="0"/>
          </a:p>
        </p:txBody>
      </p:sp>
      <p:sp>
        <p:nvSpPr>
          <p:cNvPr id="11" name="Shape 8"/>
          <p:cNvSpPr/>
          <p:nvPr/>
        </p:nvSpPr>
        <p:spPr>
          <a:xfrm>
            <a:off x="2971800" y="2240280"/>
            <a:ext cx="365760" cy="0"/>
          </a:xfrm>
          <a:prstGeom prst="line">
            <a:avLst/>
          </a:prstGeom>
          <a:noFill/>
          <a:ln w="25400">
            <a:solidFill>
              <a:srgbClr val="FFFFFF"/>
            </a:solidFill>
            <a:prstDash val="solid"/>
            <a:tailEnd type="triangle"/>
          </a:ln>
        </p:spPr>
      </p:sp>
      <p:sp>
        <p:nvSpPr>
          <p:cNvPr id="12" name="Shape 9"/>
          <p:cNvSpPr/>
          <p:nvPr/>
        </p:nvSpPr>
        <p:spPr>
          <a:xfrm>
            <a:off x="3383280" y="1188720"/>
            <a:ext cx="2468880" cy="2103120"/>
          </a:xfrm>
          <a:prstGeom prst="roundRect">
            <a:avLst>
              <a:gd name="adj" fmla="val 5217"/>
            </a:avLst>
          </a:prstGeom>
          <a:solidFill>
            <a:srgbClr val="16161F"/>
          </a:solidFill>
          <a:ln w="15875">
            <a:solidFill>
              <a:srgbClr val="F472B6"/>
            </a:solidFill>
            <a:prstDash val="solid"/>
          </a:ln>
        </p:spPr>
      </p:sp>
      <p:sp>
        <p:nvSpPr>
          <p:cNvPr id="13" name="Shape 10"/>
          <p:cNvSpPr/>
          <p:nvPr/>
        </p:nvSpPr>
        <p:spPr>
          <a:xfrm>
            <a:off x="4251960" y="1325880"/>
            <a:ext cx="731520" cy="731520"/>
          </a:xfrm>
          <a:prstGeom prst="ellipse">
            <a:avLst/>
          </a:prstGeom>
          <a:solidFill>
            <a:srgbClr val="F472B6"/>
          </a:solidFill>
          <a:ln w="6350">
            <a:solidFill>
              <a:srgbClr val="F472B6"/>
            </a:solidFill>
            <a:prstDash val="solid"/>
          </a:ln>
        </p:spPr>
      </p:sp>
      <p:sp>
        <p:nvSpPr>
          <p:cNvPr id="14" name="Text 11"/>
          <p:cNvSpPr txBox="1"/>
          <p:nvPr/>
        </p:nvSpPr>
        <p:spPr>
          <a:xfrm>
            <a:off x="4251960" y="1325880"/>
            <a:ext cx="731520" cy="731520"/>
          </a:xfrm>
          <a:prstGeom prst="rect">
            <a:avLst/>
          </a:prstGeom>
          <a:noFill/>
          <a:ln/>
        </p:spPr>
        <p:txBody>
          <a:bodyPr wrap="square" lIns="0" tIns="0" rIns="0" bIns="0" rtlCol="0" anchor="ctr"/>
          <a:lstStyle/>
          <a:p>
            <a:pPr marL="0" indent="0" algn="ctr">
              <a:buNone/>
            </a:pPr>
            <a:r>
              <a:rPr lang="en-US" sz="2600" b="1" dirty="0">
                <a:solidFill>
                  <a:srgbClr val="07070C"/>
                </a:solidFill>
                <a:latin typeface="Calibri" pitchFamily="34" charset="0"/>
                <a:ea typeface="Calibri" pitchFamily="34" charset="-122"/>
                <a:cs typeface="Calibri" pitchFamily="34" charset="-120"/>
              </a:rPr>
              <a:t>2</a:t>
            </a:r>
            <a:endParaRPr lang="en-US" sz="2600" dirty="0"/>
          </a:p>
        </p:txBody>
      </p:sp>
      <p:sp>
        <p:nvSpPr>
          <p:cNvPr id="15" name="Text 12"/>
          <p:cNvSpPr txBox="1"/>
          <p:nvPr/>
        </p:nvSpPr>
        <p:spPr>
          <a:xfrm>
            <a:off x="3383280" y="2194560"/>
            <a:ext cx="2468880" cy="365760"/>
          </a:xfrm>
          <a:prstGeom prst="rect">
            <a:avLst/>
          </a:prstGeom>
          <a:noFill/>
          <a:ln/>
        </p:spPr>
        <p:txBody>
          <a:bodyPr wrap="square" lIns="0" tIns="0" rIns="0" bIns="0" rtlCol="0" anchor="t"/>
          <a:lstStyle/>
          <a:p>
            <a:pPr marL="0" indent="0" algn="ctr">
              <a:buNone/>
            </a:pPr>
            <a:r>
              <a:rPr lang="en-US" sz="2000" b="1" dirty="0">
                <a:solidFill>
                  <a:srgbClr val="FFFFFF"/>
                </a:solidFill>
                <a:latin typeface="Cambria" pitchFamily="34" charset="0"/>
                <a:ea typeface="Cambria" pitchFamily="34" charset="-122"/>
                <a:cs typeface="Cambria" pitchFamily="34" charset="-120"/>
              </a:rPr>
              <a:t>Conquer</a:t>
            </a:r>
            <a:endParaRPr lang="en-US" sz="2000" dirty="0"/>
          </a:p>
        </p:txBody>
      </p:sp>
      <p:sp>
        <p:nvSpPr>
          <p:cNvPr id="16" name="Text 13"/>
          <p:cNvSpPr txBox="1"/>
          <p:nvPr/>
        </p:nvSpPr>
        <p:spPr>
          <a:xfrm>
            <a:off x="3566160" y="2606040"/>
            <a:ext cx="2103120" cy="640080"/>
          </a:xfrm>
          <a:prstGeom prst="rect">
            <a:avLst/>
          </a:prstGeom>
          <a:noFill/>
          <a:ln/>
        </p:spPr>
        <p:txBody>
          <a:bodyPr wrap="square" lIns="0" tIns="0" rIns="0" bIns="0" rtlCol="0" anchor="t"/>
          <a:lstStyle/>
          <a:p>
            <a:pPr marL="0" indent="0" algn="ctr">
              <a:buNone/>
            </a:pPr>
            <a:r>
              <a:rPr lang="en-US" sz="1400" dirty="0">
                <a:solidFill>
                  <a:srgbClr val="B4B4C6"/>
                </a:solidFill>
                <a:latin typeface="Calibri" pitchFamily="34" charset="0"/>
                <a:ea typeface="Calibri" pitchFamily="34" charset="-122"/>
                <a:cs typeface="Calibri" pitchFamily="34" charset="-120"/>
              </a:rPr>
              <a:t>Recursively sort each subarray</a:t>
            </a:r>
            <a:endParaRPr lang="en-US" sz="1400" dirty="0"/>
          </a:p>
        </p:txBody>
      </p:sp>
      <p:sp>
        <p:nvSpPr>
          <p:cNvPr id="17" name="Shape 14"/>
          <p:cNvSpPr/>
          <p:nvPr/>
        </p:nvSpPr>
        <p:spPr>
          <a:xfrm>
            <a:off x="5897880" y="2240280"/>
            <a:ext cx="365760" cy="0"/>
          </a:xfrm>
          <a:prstGeom prst="line">
            <a:avLst/>
          </a:prstGeom>
          <a:noFill/>
          <a:ln w="25400">
            <a:solidFill>
              <a:srgbClr val="FFFFFF"/>
            </a:solidFill>
            <a:prstDash val="solid"/>
            <a:tailEnd type="triangle"/>
          </a:ln>
        </p:spPr>
      </p:sp>
      <p:sp>
        <p:nvSpPr>
          <p:cNvPr id="18" name="Shape 15"/>
          <p:cNvSpPr/>
          <p:nvPr/>
        </p:nvSpPr>
        <p:spPr>
          <a:xfrm>
            <a:off x="6309360" y="1188720"/>
            <a:ext cx="2468880" cy="2103120"/>
          </a:xfrm>
          <a:prstGeom prst="roundRect">
            <a:avLst>
              <a:gd name="adj" fmla="val 5217"/>
            </a:avLst>
          </a:prstGeom>
          <a:solidFill>
            <a:srgbClr val="16161F"/>
          </a:solidFill>
          <a:ln w="15875">
            <a:solidFill>
              <a:srgbClr val="34D399"/>
            </a:solidFill>
            <a:prstDash val="solid"/>
          </a:ln>
        </p:spPr>
      </p:sp>
      <p:sp>
        <p:nvSpPr>
          <p:cNvPr id="19" name="Shape 16"/>
          <p:cNvSpPr/>
          <p:nvPr/>
        </p:nvSpPr>
        <p:spPr>
          <a:xfrm>
            <a:off x="7178040" y="1325880"/>
            <a:ext cx="731520" cy="731520"/>
          </a:xfrm>
          <a:prstGeom prst="ellipse">
            <a:avLst/>
          </a:prstGeom>
          <a:solidFill>
            <a:srgbClr val="34D399"/>
          </a:solidFill>
          <a:ln w="6350">
            <a:solidFill>
              <a:srgbClr val="34D399"/>
            </a:solidFill>
            <a:prstDash val="solid"/>
          </a:ln>
        </p:spPr>
      </p:sp>
      <p:sp>
        <p:nvSpPr>
          <p:cNvPr id="20" name="Text 17"/>
          <p:cNvSpPr txBox="1"/>
          <p:nvPr/>
        </p:nvSpPr>
        <p:spPr>
          <a:xfrm>
            <a:off x="7178040" y="1325880"/>
            <a:ext cx="731520" cy="731520"/>
          </a:xfrm>
          <a:prstGeom prst="rect">
            <a:avLst/>
          </a:prstGeom>
          <a:noFill/>
          <a:ln/>
        </p:spPr>
        <p:txBody>
          <a:bodyPr wrap="square" lIns="0" tIns="0" rIns="0" bIns="0" rtlCol="0" anchor="ctr"/>
          <a:lstStyle/>
          <a:p>
            <a:pPr marL="0" indent="0" algn="ctr">
              <a:buNone/>
            </a:pPr>
            <a:r>
              <a:rPr lang="en-US" sz="2600" b="1" dirty="0">
                <a:solidFill>
                  <a:srgbClr val="07070C"/>
                </a:solidFill>
                <a:latin typeface="Calibri" pitchFamily="34" charset="0"/>
                <a:ea typeface="Calibri" pitchFamily="34" charset="-122"/>
                <a:cs typeface="Calibri" pitchFamily="34" charset="-120"/>
              </a:rPr>
              <a:t>3</a:t>
            </a:r>
            <a:endParaRPr lang="en-US" sz="2600" dirty="0"/>
          </a:p>
        </p:txBody>
      </p:sp>
      <p:sp>
        <p:nvSpPr>
          <p:cNvPr id="21" name="Text 18"/>
          <p:cNvSpPr txBox="1"/>
          <p:nvPr/>
        </p:nvSpPr>
        <p:spPr>
          <a:xfrm>
            <a:off x="6309360" y="2194560"/>
            <a:ext cx="2468880" cy="365760"/>
          </a:xfrm>
          <a:prstGeom prst="rect">
            <a:avLst/>
          </a:prstGeom>
          <a:noFill/>
          <a:ln/>
        </p:spPr>
        <p:txBody>
          <a:bodyPr wrap="square" lIns="0" tIns="0" rIns="0" bIns="0" rtlCol="0" anchor="t"/>
          <a:lstStyle/>
          <a:p>
            <a:pPr marL="0" indent="0" algn="ctr">
              <a:buNone/>
            </a:pPr>
            <a:r>
              <a:rPr lang="en-US" sz="2000" b="1" dirty="0">
                <a:solidFill>
                  <a:srgbClr val="FFFFFF"/>
                </a:solidFill>
                <a:latin typeface="Cambria" pitchFamily="34" charset="0"/>
                <a:ea typeface="Cambria" pitchFamily="34" charset="-122"/>
                <a:cs typeface="Cambria" pitchFamily="34" charset="-120"/>
              </a:rPr>
              <a:t>Combine</a:t>
            </a:r>
            <a:endParaRPr lang="en-US" sz="2000" dirty="0"/>
          </a:p>
        </p:txBody>
      </p:sp>
      <p:sp>
        <p:nvSpPr>
          <p:cNvPr id="22" name="Text 19"/>
          <p:cNvSpPr txBox="1"/>
          <p:nvPr/>
        </p:nvSpPr>
        <p:spPr>
          <a:xfrm>
            <a:off x="6492240" y="2606040"/>
            <a:ext cx="2103120" cy="640080"/>
          </a:xfrm>
          <a:prstGeom prst="rect">
            <a:avLst/>
          </a:prstGeom>
          <a:noFill/>
          <a:ln/>
        </p:spPr>
        <p:txBody>
          <a:bodyPr wrap="square" lIns="0" tIns="0" rIns="0" bIns="0" rtlCol="0" anchor="t"/>
          <a:lstStyle/>
          <a:p>
            <a:pPr marL="0" indent="0" algn="ctr">
              <a:buNone/>
            </a:pPr>
            <a:r>
              <a:rPr lang="en-US" sz="1400" dirty="0">
                <a:solidFill>
                  <a:srgbClr val="B4B4C6"/>
                </a:solidFill>
                <a:latin typeface="Calibri" pitchFamily="34" charset="0"/>
                <a:ea typeface="Calibri" pitchFamily="34" charset="-122"/>
                <a:cs typeface="Calibri" pitchFamily="34" charset="-120"/>
              </a:rPr>
              <a:t>Merge the sorted subarrays into one</a:t>
            </a:r>
            <a:endParaRPr lang="en-US" sz="1400" dirty="0"/>
          </a:p>
        </p:txBody>
      </p:sp>
      <p:sp>
        <p:nvSpPr>
          <p:cNvPr id="23" name="Text 20"/>
          <p:cNvSpPr txBox="1"/>
          <p:nvPr/>
        </p:nvSpPr>
        <p:spPr>
          <a:xfrm>
            <a:off x="457200" y="3520440"/>
            <a:ext cx="2743200" cy="274320"/>
          </a:xfrm>
          <a:prstGeom prst="rect">
            <a:avLst/>
          </a:prstGeom>
          <a:noFill/>
          <a:ln/>
        </p:spPr>
        <p:txBody>
          <a:bodyPr wrap="square" lIns="0" tIns="0" rIns="0" bIns="0" rtlCol="0" anchor="t"/>
          <a:lstStyle/>
          <a:p>
            <a:pPr marL="0" indent="0">
              <a:buNone/>
            </a:pPr>
            <a:r>
              <a:rPr lang="en-US" sz="1300" b="1" dirty="0">
                <a:solidFill>
                  <a:srgbClr val="B4B4C6"/>
                </a:solidFill>
                <a:latin typeface="Calibri" pitchFamily="34" charset="0"/>
                <a:ea typeface="Calibri" pitchFamily="34" charset="-122"/>
                <a:cs typeface="Calibri" pitchFamily="34" charset="-120"/>
              </a:rPr>
              <a:t>Example flow</a:t>
            </a:r>
            <a:endParaRPr lang="en-US" sz="1300" dirty="0"/>
          </a:p>
        </p:txBody>
      </p:sp>
      <p:sp>
        <p:nvSpPr>
          <p:cNvPr id="24" name="Shape 21"/>
          <p:cNvSpPr/>
          <p:nvPr/>
        </p:nvSpPr>
        <p:spPr>
          <a:xfrm>
            <a:off x="457200" y="3886200"/>
            <a:ext cx="329184" cy="365760"/>
          </a:xfrm>
          <a:prstGeom prst="roundRect">
            <a:avLst>
              <a:gd name="adj" fmla="val 16667"/>
            </a:avLst>
          </a:prstGeom>
          <a:solidFill>
            <a:srgbClr val="16161F"/>
          </a:solidFill>
          <a:ln w="6350">
            <a:solidFill>
              <a:srgbClr val="16161F"/>
            </a:solidFill>
            <a:prstDash val="solid"/>
          </a:ln>
        </p:spPr>
      </p:sp>
      <p:sp>
        <p:nvSpPr>
          <p:cNvPr id="25" name="Text 22"/>
          <p:cNvSpPr txBox="1"/>
          <p:nvPr/>
        </p:nvSpPr>
        <p:spPr>
          <a:xfrm>
            <a:off x="457200" y="38862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6" name="Shape 23"/>
          <p:cNvSpPr/>
          <p:nvPr/>
        </p:nvSpPr>
        <p:spPr>
          <a:xfrm>
            <a:off x="877824" y="3886200"/>
            <a:ext cx="329184" cy="365760"/>
          </a:xfrm>
          <a:prstGeom prst="roundRect">
            <a:avLst>
              <a:gd name="adj" fmla="val 16667"/>
            </a:avLst>
          </a:prstGeom>
          <a:solidFill>
            <a:srgbClr val="16161F"/>
          </a:solidFill>
          <a:ln w="6350">
            <a:solidFill>
              <a:srgbClr val="16161F"/>
            </a:solidFill>
            <a:prstDash val="solid"/>
          </a:ln>
        </p:spPr>
      </p:sp>
      <p:sp>
        <p:nvSpPr>
          <p:cNvPr id="27" name="Text 24"/>
          <p:cNvSpPr txBox="1"/>
          <p:nvPr/>
        </p:nvSpPr>
        <p:spPr>
          <a:xfrm>
            <a:off x="877824" y="38862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Shape 25"/>
          <p:cNvSpPr/>
          <p:nvPr/>
        </p:nvSpPr>
        <p:spPr>
          <a:xfrm>
            <a:off x="1298448" y="3886200"/>
            <a:ext cx="329184" cy="365760"/>
          </a:xfrm>
          <a:prstGeom prst="roundRect">
            <a:avLst>
              <a:gd name="adj" fmla="val 16667"/>
            </a:avLst>
          </a:prstGeom>
          <a:solidFill>
            <a:srgbClr val="16161F"/>
          </a:solidFill>
          <a:ln w="6350">
            <a:solidFill>
              <a:srgbClr val="16161F"/>
            </a:solidFill>
            <a:prstDash val="solid"/>
          </a:ln>
        </p:spPr>
      </p:sp>
      <p:sp>
        <p:nvSpPr>
          <p:cNvPr id="29" name="Text 26"/>
          <p:cNvSpPr txBox="1"/>
          <p:nvPr/>
        </p:nvSpPr>
        <p:spPr>
          <a:xfrm>
            <a:off x="1298448" y="38862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Shape 27"/>
          <p:cNvSpPr/>
          <p:nvPr/>
        </p:nvSpPr>
        <p:spPr>
          <a:xfrm>
            <a:off x="1719072" y="3886200"/>
            <a:ext cx="329184" cy="365760"/>
          </a:xfrm>
          <a:prstGeom prst="roundRect">
            <a:avLst>
              <a:gd name="adj" fmla="val 16667"/>
            </a:avLst>
          </a:prstGeom>
          <a:solidFill>
            <a:srgbClr val="16161F"/>
          </a:solidFill>
          <a:ln w="6350">
            <a:solidFill>
              <a:srgbClr val="16161F"/>
            </a:solidFill>
            <a:prstDash val="solid"/>
          </a:ln>
        </p:spPr>
      </p:sp>
      <p:sp>
        <p:nvSpPr>
          <p:cNvPr id="31" name="Text 28"/>
          <p:cNvSpPr txBox="1"/>
          <p:nvPr/>
        </p:nvSpPr>
        <p:spPr>
          <a:xfrm>
            <a:off x="1719072" y="38862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2" name="Shape 29"/>
          <p:cNvSpPr/>
          <p:nvPr/>
        </p:nvSpPr>
        <p:spPr>
          <a:xfrm>
            <a:off x="2103120" y="4069080"/>
            <a:ext cx="274320" cy="0"/>
          </a:xfrm>
          <a:prstGeom prst="line">
            <a:avLst/>
          </a:prstGeom>
          <a:noFill/>
          <a:ln w="25400">
            <a:solidFill>
              <a:srgbClr val="B4B4C6"/>
            </a:solidFill>
            <a:prstDash val="solid"/>
            <a:tailEnd type="triangle"/>
          </a:ln>
        </p:spPr>
      </p:sp>
      <p:sp>
        <p:nvSpPr>
          <p:cNvPr id="33" name="Shape 30"/>
          <p:cNvSpPr/>
          <p:nvPr/>
        </p:nvSpPr>
        <p:spPr>
          <a:xfrm>
            <a:off x="2468880" y="3886200"/>
            <a:ext cx="329184" cy="365760"/>
          </a:xfrm>
          <a:prstGeom prst="roundRect">
            <a:avLst>
              <a:gd name="adj" fmla="val 16667"/>
            </a:avLst>
          </a:prstGeom>
          <a:solidFill>
            <a:srgbClr val="22D3EE"/>
          </a:solidFill>
          <a:ln w="6350">
            <a:solidFill>
              <a:srgbClr val="22D3EE"/>
            </a:solidFill>
            <a:prstDash val="solid"/>
          </a:ln>
        </p:spPr>
      </p:sp>
      <p:sp>
        <p:nvSpPr>
          <p:cNvPr id="34" name="Text 31"/>
          <p:cNvSpPr txBox="1"/>
          <p:nvPr/>
        </p:nvSpPr>
        <p:spPr>
          <a:xfrm>
            <a:off x="2468880"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8</a:t>
            </a:r>
            <a:endParaRPr lang="en-US" sz="1300" dirty="0"/>
          </a:p>
        </p:txBody>
      </p:sp>
      <p:sp>
        <p:nvSpPr>
          <p:cNvPr id="35" name="Shape 32"/>
          <p:cNvSpPr/>
          <p:nvPr/>
        </p:nvSpPr>
        <p:spPr>
          <a:xfrm>
            <a:off x="2889504" y="3886200"/>
            <a:ext cx="329184" cy="365760"/>
          </a:xfrm>
          <a:prstGeom prst="roundRect">
            <a:avLst>
              <a:gd name="adj" fmla="val 16667"/>
            </a:avLst>
          </a:prstGeom>
          <a:solidFill>
            <a:srgbClr val="22D3EE"/>
          </a:solidFill>
          <a:ln w="6350">
            <a:solidFill>
              <a:srgbClr val="22D3EE"/>
            </a:solidFill>
            <a:prstDash val="solid"/>
          </a:ln>
        </p:spPr>
      </p:sp>
      <p:sp>
        <p:nvSpPr>
          <p:cNvPr id="36" name="Text 33"/>
          <p:cNvSpPr txBox="1"/>
          <p:nvPr/>
        </p:nvSpPr>
        <p:spPr>
          <a:xfrm>
            <a:off x="2889504"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3</a:t>
            </a:r>
            <a:endParaRPr lang="en-US" sz="1300" dirty="0"/>
          </a:p>
        </p:txBody>
      </p:sp>
      <p:sp>
        <p:nvSpPr>
          <p:cNvPr id="37" name="Shape 34"/>
          <p:cNvSpPr/>
          <p:nvPr/>
        </p:nvSpPr>
        <p:spPr>
          <a:xfrm>
            <a:off x="3310128" y="3886200"/>
            <a:ext cx="329184" cy="365760"/>
          </a:xfrm>
          <a:prstGeom prst="roundRect">
            <a:avLst>
              <a:gd name="adj" fmla="val 16667"/>
            </a:avLst>
          </a:prstGeom>
          <a:solidFill>
            <a:srgbClr val="22D3EE"/>
          </a:solidFill>
          <a:ln w="6350">
            <a:solidFill>
              <a:srgbClr val="22D3EE"/>
            </a:solidFill>
            <a:prstDash val="solid"/>
          </a:ln>
        </p:spPr>
      </p:sp>
      <p:sp>
        <p:nvSpPr>
          <p:cNvPr id="38" name="Text 35"/>
          <p:cNvSpPr txBox="1"/>
          <p:nvPr/>
        </p:nvSpPr>
        <p:spPr>
          <a:xfrm>
            <a:off x="3310128"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5</a:t>
            </a:r>
            <a:endParaRPr lang="en-US" sz="1300" dirty="0"/>
          </a:p>
        </p:txBody>
      </p:sp>
      <p:sp>
        <p:nvSpPr>
          <p:cNvPr id="39" name="Shape 36"/>
          <p:cNvSpPr/>
          <p:nvPr/>
        </p:nvSpPr>
        <p:spPr>
          <a:xfrm>
            <a:off x="3730752" y="3886200"/>
            <a:ext cx="329184" cy="365760"/>
          </a:xfrm>
          <a:prstGeom prst="roundRect">
            <a:avLst>
              <a:gd name="adj" fmla="val 16667"/>
            </a:avLst>
          </a:prstGeom>
          <a:solidFill>
            <a:srgbClr val="22D3EE"/>
          </a:solidFill>
          <a:ln w="6350">
            <a:solidFill>
              <a:srgbClr val="22D3EE"/>
            </a:solidFill>
            <a:prstDash val="solid"/>
          </a:ln>
        </p:spPr>
      </p:sp>
      <p:sp>
        <p:nvSpPr>
          <p:cNvPr id="40" name="Text 37"/>
          <p:cNvSpPr txBox="1"/>
          <p:nvPr/>
        </p:nvSpPr>
        <p:spPr>
          <a:xfrm>
            <a:off x="3730752"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1</a:t>
            </a:r>
            <a:endParaRPr lang="en-US" sz="1300" dirty="0"/>
          </a:p>
        </p:txBody>
      </p:sp>
      <p:sp>
        <p:nvSpPr>
          <p:cNvPr id="41" name="Shape 38"/>
          <p:cNvSpPr/>
          <p:nvPr/>
        </p:nvSpPr>
        <p:spPr>
          <a:xfrm>
            <a:off x="4160520" y="4069080"/>
            <a:ext cx="274320" cy="0"/>
          </a:xfrm>
          <a:prstGeom prst="line">
            <a:avLst/>
          </a:prstGeom>
          <a:noFill/>
          <a:ln w="25400">
            <a:solidFill>
              <a:srgbClr val="B4B4C6"/>
            </a:solidFill>
            <a:prstDash val="solid"/>
            <a:tailEnd type="triangle"/>
          </a:ln>
        </p:spPr>
      </p:sp>
      <p:sp>
        <p:nvSpPr>
          <p:cNvPr id="42" name="Shape 39"/>
          <p:cNvSpPr/>
          <p:nvPr/>
        </p:nvSpPr>
        <p:spPr>
          <a:xfrm>
            <a:off x="4526280" y="3886200"/>
            <a:ext cx="329184" cy="365760"/>
          </a:xfrm>
          <a:prstGeom prst="roundRect">
            <a:avLst>
              <a:gd name="adj" fmla="val 16667"/>
            </a:avLst>
          </a:prstGeom>
          <a:solidFill>
            <a:srgbClr val="F472B6"/>
          </a:solidFill>
          <a:ln w="6350">
            <a:solidFill>
              <a:srgbClr val="F472B6"/>
            </a:solidFill>
            <a:prstDash val="solid"/>
          </a:ln>
        </p:spPr>
      </p:sp>
      <p:sp>
        <p:nvSpPr>
          <p:cNvPr id="43" name="Text 40"/>
          <p:cNvSpPr txBox="1"/>
          <p:nvPr/>
        </p:nvSpPr>
        <p:spPr>
          <a:xfrm>
            <a:off x="4526280"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3</a:t>
            </a:r>
            <a:endParaRPr lang="en-US" sz="1300" dirty="0"/>
          </a:p>
        </p:txBody>
      </p:sp>
      <p:sp>
        <p:nvSpPr>
          <p:cNvPr id="44" name="Shape 41"/>
          <p:cNvSpPr/>
          <p:nvPr/>
        </p:nvSpPr>
        <p:spPr>
          <a:xfrm>
            <a:off x="4946904" y="3886200"/>
            <a:ext cx="329184" cy="365760"/>
          </a:xfrm>
          <a:prstGeom prst="roundRect">
            <a:avLst>
              <a:gd name="adj" fmla="val 16667"/>
            </a:avLst>
          </a:prstGeom>
          <a:solidFill>
            <a:srgbClr val="F472B6"/>
          </a:solidFill>
          <a:ln w="6350">
            <a:solidFill>
              <a:srgbClr val="F472B6"/>
            </a:solidFill>
            <a:prstDash val="solid"/>
          </a:ln>
        </p:spPr>
      </p:sp>
      <p:sp>
        <p:nvSpPr>
          <p:cNvPr id="45" name="Text 42"/>
          <p:cNvSpPr txBox="1"/>
          <p:nvPr/>
        </p:nvSpPr>
        <p:spPr>
          <a:xfrm>
            <a:off x="4946904"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8</a:t>
            </a:r>
            <a:endParaRPr lang="en-US" sz="1300" dirty="0"/>
          </a:p>
        </p:txBody>
      </p:sp>
      <p:sp>
        <p:nvSpPr>
          <p:cNvPr id="46" name="Shape 43"/>
          <p:cNvSpPr/>
          <p:nvPr/>
        </p:nvSpPr>
        <p:spPr>
          <a:xfrm>
            <a:off x="5367528" y="3886200"/>
            <a:ext cx="329184" cy="365760"/>
          </a:xfrm>
          <a:prstGeom prst="roundRect">
            <a:avLst>
              <a:gd name="adj" fmla="val 16667"/>
            </a:avLst>
          </a:prstGeom>
          <a:solidFill>
            <a:srgbClr val="F472B6"/>
          </a:solidFill>
          <a:ln w="6350">
            <a:solidFill>
              <a:srgbClr val="F472B6"/>
            </a:solidFill>
            <a:prstDash val="solid"/>
          </a:ln>
        </p:spPr>
      </p:sp>
      <p:sp>
        <p:nvSpPr>
          <p:cNvPr id="47" name="Text 44"/>
          <p:cNvSpPr txBox="1"/>
          <p:nvPr/>
        </p:nvSpPr>
        <p:spPr>
          <a:xfrm>
            <a:off x="5367528"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1</a:t>
            </a:r>
            <a:endParaRPr lang="en-US" sz="1300" dirty="0"/>
          </a:p>
        </p:txBody>
      </p:sp>
      <p:sp>
        <p:nvSpPr>
          <p:cNvPr id="48" name="Shape 45"/>
          <p:cNvSpPr/>
          <p:nvPr/>
        </p:nvSpPr>
        <p:spPr>
          <a:xfrm>
            <a:off x="5788152" y="3886200"/>
            <a:ext cx="329184" cy="365760"/>
          </a:xfrm>
          <a:prstGeom prst="roundRect">
            <a:avLst>
              <a:gd name="adj" fmla="val 16667"/>
            </a:avLst>
          </a:prstGeom>
          <a:solidFill>
            <a:srgbClr val="F472B6"/>
          </a:solidFill>
          <a:ln w="6350">
            <a:solidFill>
              <a:srgbClr val="F472B6"/>
            </a:solidFill>
            <a:prstDash val="solid"/>
          </a:ln>
        </p:spPr>
      </p:sp>
      <p:sp>
        <p:nvSpPr>
          <p:cNvPr id="49" name="Text 46"/>
          <p:cNvSpPr txBox="1"/>
          <p:nvPr/>
        </p:nvSpPr>
        <p:spPr>
          <a:xfrm>
            <a:off x="5788152"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5</a:t>
            </a:r>
            <a:endParaRPr lang="en-US" sz="1300" dirty="0"/>
          </a:p>
        </p:txBody>
      </p:sp>
      <p:sp>
        <p:nvSpPr>
          <p:cNvPr id="50" name="Shape 47"/>
          <p:cNvSpPr/>
          <p:nvPr/>
        </p:nvSpPr>
        <p:spPr>
          <a:xfrm>
            <a:off x="6217920" y="4069080"/>
            <a:ext cx="274320" cy="0"/>
          </a:xfrm>
          <a:prstGeom prst="line">
            <a:avLst/>
          </a:prstGeom>
          <a:noFill/>
          <a:ln w="25400">
            <a:solidFill>
              <a:srgbClr val="B4B4C6"/>
            </a:solidFill>
            <a:prstDash val="solid"/>
            <a:tailEnd type="triangle"/>
          </a:ln>
        </p:spPr>
      </p:sp>
      <p:sp>
        <p:nvSpPr>
          <p:cNvPr id="51" name="Shape 48"/>
          <p:cNvSpPr/>
          <p:nvPr/>
        </p:nvSpPr>
        <p:spPr>
          <a:xfrm>
            <a:off x="6583680" y="3886200"/>
            <a:ext cx="329184" cy="365760"/>
          </a:xfrm>
          <a:prstGeom prst="roundRect">
            <a:avLst>
              <a:gd name="adj" fmla="val 16667"/>
            </a:avLst>
          </a:prstGeom>
          <a:solidFill>
            <a:srgbClr val="34D399"/>
          </a:solidFill>
          <a:ln w="6350">
            <a:solidFill>
              <a:srgbClr val="34D399"/>
            </a:solidFill>
            <a:prstDash val="solid"/>
          </a:ln>
        </p:spPr>
      </p:sp>
      <p:sp>
        <p:nvSpPr>
          <p:cNvPr id="52" name="Text 49"/>
          <p:cNvSpPr txBox="1"/>
          <p:nvPr/>
        </p:nvSpPr>
        <p:spPr>
          <a:xfrm>
            <a:off x="6583680"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1</a:t>
            </a:r>
            <a:endParaRPr lang="en-US" sz="1300" dirty="0"/>
          </a:p>
        </p:txBody>
      </p:sp>
      <p:sp>
        <p:nvSpPr>
          <p:cNvPr id="53" name="Shape 50"/>
          <p:cNvSpPr/>
          <p:nvPr/>
        </p:nvSpPr>
        <p:spPr>
          <a:xfrm>
            <a:off x="7004304" y="3886200"/>
            <a:ext cx="329184" cy="365760"/>
          </a:xfrm>
          <a:prstGeom prst="roundRect">
            <a:avLst>
              <a:gd name="adj" fmla="val 16667"/>
            </a:avLst>
          </a:prstGeom>
          <a:solidFill>
            <a:srgbClr val="34D399"/>
          </a:solidFill>
          <a:ln w="6350">
            <a:solidFill>
              <a:srgbClr val="34D399"/>
            </a:solidFill>
            <a:prstDash val="solid"/>
          </a:ln>
        </p:spPr>
      </p:sp>
      <p:sp>
        <p:nvSpPr>
          <p:cNvPr id="54" name="Text 51"/>
          <p:cNvSpPr txBox="1"/>
          <p:nvPr/>
        </p:nvSpPr>
        <p:spPr>
          <a:xfrm>
            <a:off x="7004304"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3</a:t>
            </a:r>
            <a:endParaRPr lang="en-US" sz="1300" dirty="0"/>
          </a:p>
        </p:txBody>
      </p:sp>
      <p:sp>
        <p:nvSpPr>
          <p:cNvPr id="55" name="Shape 52"/>
          <p:cNvSpPr/>
          <p:nvPr/>
        </p:nvSpPr>
        <p:spPr>
          <a:xfrm>
            <a:off x="7424928" y="3886200"/>
            <a:ext cx="329184" cy="365760"/>
          </a:xfrm>
          <a:prstGeom prst="roundRect">
            <a:avLst>
              <a:gd name="adj" fmla="val 16667"/>
            </a:avLst>
          </a:prstGeom>
          <a:solidFill>
            <a:srgbClr val="34D399"/>
          </a:solidFill>
          <a:ln w="6350">
            <a:solidFill>
              <a:srgbClr val="34D399"/>
            </a:solidFill>
            <a:prstDash val="solid"/>
          </a:ln>
        </p:spPr>
      </p:sp>
      <p:sp>
        <p:nvSpPr>
          <p:cNvPr id="56" name="Text 53"/>
          <p:cNvSpPr txBox="1"/>
          <p:nvPr/>
        </p:nvSpPr>
        <p:spPr>
          <a:xfrm>
            <a:off x="7424928"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5</a:t>
            </a:r>
            <a:endParaRPr lang="en-US" sz="1300" dirty="0"/>
          </a:p>
        </p:txBody>
      </p:sp>
      <p:sp>
        <p:nvSpPr>
          <p:cNvPr id="57" name="Shape 54"/>
          <p:cNvSpPr/>
          <p:nvPr/>
        </p:nvSpPr>
        <p:spPr>
          <a:xfrm>
            <a:off x="7845552" y="3886200"/>
            <a:ext cx="329184" cy="365760"/>
          </a:xfrm>
          <a:prstGeom prst="roundRect">
            <a:avLst>
              <a:gd name="adj" fmla="val 16667"/>
            </a:avLst>
          </a:prstGeom>
          <a:solidFill>
            <a:srgbClr val="34D399"/>
          </a:solidFill>
          <a:ln w="6350">
            <a:solidFill>
              <a:srgbClr val="34D399"/>
            </a:solidFill>
            <a:prstDash val="solid"/>
          </a:ln>
        </p:spPr>
      </p:sp>
      <p:sp>
        <p:nvSpPr>
          <p:cNvPr id="58" name="Text 55"/>
          <p:cNvSpPr txBox="1"/>
          <p:nvPr/>
        </p:nvSpPr>
        <p:spPr>
          <a:xfrm>
            <a:off x="7845552" y="3886200"/>
            <a:ext cx="329184" cy="365760"/>
          </a:xfrm>
          <a:prstGeom prst="rect">
            <a:avLst/>
          </a:prstGeom>
          <a:noFill/>
          <a:ln/>
        </p:spPr>
        <p:txBody>
          <a:bodyPr wrap="square" lIns="0" tIns="0" rIns="0" bIns="0" rtlCol="0" anchor="ctr"/>
          <a:lstStyle/>
          <a:p>
            <a:pPr marL="0" indent="0" algn="ctr">
              <a:buNone/>
            </a:pPr>
            <a:r>
              <a:rPr lang="en-US" sz="1300" b="1" dirty="0">
                <a:solidFill>
                  <a:srgbClr val="07070C"/>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Working of Merge Sort</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1956816" y="1005840"/>
            <a:ext cx="3858768" cy="457200"/>
          </a:xfrm>
          <a:prstGeom prst="roundRect">
            <a:avLst>
              <a:gd name="adj" fmla="val 12000"/>
            </a:avLst>
          </a:prstGeom>
          <a:solidFill>
            <a:srgbClr val="07070C"/>
          </a:solidFill>
          <a:ln w="15875">
            <a:solidFill>
              <a:srgbClr val="FFFFFF"/>
            </a:solidFill>
            <a:prstDash val="solid"/>
          </a:ln>
        </p:spPr>
      </p:sp>
      <p:sp>
        <p:nvSpPr>
          <p:cNvPr id="7" name="Shape 4"/>
          <p:cNvSpPr/>
          <p:nvPr/>
        </p:nvSpPr>
        <p:spPr>
          <a:xfrm>
            <a:off x="2011680" y="1051560"/>
            <a:ext cx="457200" cy="365760"/>
          </a:xfrm>
          <a:prstGeom prst="roundRect">
            <a:avLst>
              <a:gd name="adj" fmla="val 15000"/>
            </a:avLst>
          </a:prstGeom>
          <a:solidFill>
            <a:srgbClr val="16161F"/>
          </a:solidFill>
          <a:ln w="6350">
            <a:solidFill>
              <a:srgbClr val="16161F"/>
            </a:solidFill>
            <a:prstDash val="solid"/>
          </a:ln>
        </p:spPr>
      </p:sp>
      <p:sp>
        <p:nvSpPr>
          <p:cNvPr id="8" name="Text 5"/>
          <p:cNvSpPr txBox="1"/>
          <p:nvPr/>
        </p:nvSpPr>
        <p:spPr>
          <a:xfrm>
            <a:off x="201168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38</a:t>
            </a:r>
            <a:endParaRPr lang="en-US" sz="1400" dirty="0"/>
          </a:p>
        </p:txBody>
      </p:sp>
      <p:sp>
        <p:nvSpPr>
          <p:cNvPr id="9" name="Shape 6"/>
          <p:cNvSpPr/>
          <p:nvPr/>
        </p:nvSpPr>
        <p:spPr>
          <a:xfrm>
            <a:off x="2560320" y="1051560"/>
            <a:ext cx="457200" cy="365760"/>
          </a:xfrm>
          <a:prstGeom prst="roundRect">
            <a:avLst>
              <a:gd name="adj" fmla="val 15000"/>
            </a:avLst>
          </a:prstGeom>
          <a:solidFill>
            <a:srgbClr val="16161F"/>
          </a:solidFill>
          <a:ln w="6350">
            <a:solidFill>
              <a:srgbClr val="16161F"/>
            </a:solidFill>
            <a:prstDash val="solid"/>
          </a:ln>
        </p:spPr>
      </p:sp>
      <p:sp>
        <p:nvSpPr>
          <p:cNvPr id="10" name="Text 7"/>
          <p:cNvSpPr txBox="1"/>
          <p:nvPr/>
        </p:nvSpPr>
        <p:spPr>
          <a:xfrm>
            <a:off x="256032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27</a:t>
            </a:r>
            <a:endParaRPr lang="en-US" sz="1400" dirty="0"/>
          </a:p>
        </p:txBody>
      </p:sp>
      <p:sp>
        <p:nvSpPr>
          <p:cNvPr id="11" name="Shape 8"/>
          <p:cNvSpPr/>
          <p:nvPr/>
        </p:nvSpPr>
        <p:spPr>
          <a:xfrm>
            <a:off x="3108960" y="1051560"/>
            <a:ext cx="457200" cy="365760"/>
          </a:xfrm>
          <a:prstGeom prst="roundRect">
            <a:avLst>
              <a:gd name="adj" fmla="val 15000"/>
            </a:avLst>
          </a:prstGeom>
          <a:solidFill>
            <a:srgbClr val="16161F"/>
          </a:solidFill>
          <a:ln w="6350">
            <a:solidFill>
              <a:srgbClr val="16161F"/>
            </a:solidFill>
            <a:prstDash val="solid"/>
          </a:ln>
        </p:spPr>
      </p:sp>
      <p:sp>
        <p:nvSpPr>
          <p:cNvPr id="12" name="Text 9"/>
          <p:cNvSpPr txBox="1"/>
          <p:nvPr/>
        </p:nvSpPr>
        <p:spPr>
          <a:xfrm>
            <a:off x="310896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43</a:t>
            </a:r>
            <a:endParaRPr lang="en-US" sz="1400" dirty="0"/>
          </a:p>
        </p:txBody>
      </p:sp>
      <p:sp>
        <p:nvSpPr>
          <p:cNvPr id="13" name="Shape 10"/>
          <p:cNvSpPr/>
          <p:nvPr/>
        </p:nvSpPr>
        <p:spPr>
          <a:xfrm>
            <a:off x="3657600" y="1051560"/>
            <a:ext cx="457200" cy="365760"/>
          </a:xfrm>
          <a:prstGeom prst="roundRect">
            <a:avLst>
              <a:gd name="adj" fmla="val 15000"/>
            </a:avLst>
          </a:prstGeom>
          <a:solidFill>
            <a:srgbClr val="16161F"/>
          </a:solidFill>
          <a:ln w="6350">
            <a:solidFill>
              <a:srgbClr val="16161F"/>
            </a:solidFill>
            <a:prstDash val="solid"/>
          </a:ln>
        </p:spPr>
      </p:sp>
      <p:sp>
        <p:nvSpPr>
          <p:cNvPr id="14" name="Text 11"/>
          <p:cNvSpPr txBox="1"/>
          <p:nvPr/>
        </p:nvSpPr>
        <p:spPr>
          <a:xfrm>
            <a:off x="365760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Shape 12"/>
          <p:cNvSpPr/>
          <p:nvPr/>
        </p:nvSpPr>
        <p:spPr>
          <a:xfrm>
            <a:off x="4206240" y="1051560"/>
            <a:ext cx="457200" cy="365760"/>
          </a:xfrm>
          <a:prstGeom prst="roundRect">
            <a:avLst>
              <a:gd name="adj" fmla="val 15000"/>
            </a:avLst>
          </a:prstGeom>
          <a:solidFill>
            <a:srgbClr val="16161F"/>
          </a:solidFill>
          <a:ln w="6350">
            <a:solidFill>
              <a:srgbClr val="16161F"/>
            </a:solidFill>
            <a:prstDash val="solid"/>
          </a:ln>
        </p:spPr>
      </p:sp>
      <p:sp>
        <p:nvSpPr>
          <p:cNvPr id="16" name="Text 13"/>
          <p:cNvSpPr txBox="1"/>
          <p:nvPr/>
        </p:nvSpPr>
        <p:spPr>
          <a:xfrm>
            <a:off x="420624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7" name="Shape 14"/>
          <p:cNvSpPr/>
          <p:nvPr/>
        </p:nvSpPr>
        <p:spPr>
          <a:xfrm>
            <a:off x="4754880" y="1051560"/>
            <a:ext cx="457200" cy="365760"/>
          </a:xfrm>
          <a:prstGeom prst="roundRect">
            <a:avLst>
              <a:gd name="adj" fmla="val 15000"/>
            </a:avLst>
          </a:prstGeom>
          <a:solidFill>
            <a:srgbClr val="16161F"/>
          </a:solidFill>
          <a:ln w="6350">
            <a:solidFill>
              <a:srgbClr val="16161F"/>
            </a:solidFill>
            <a:prstDash val="solid"/>
          </a:ln>
        </p:spPr>
      </p:sp>
      <p:sp>
        <p:nvSpPr>
          <p:cNvPr id="18" name="Text 15"/>
          <p:cNvSpPr txBox="1"/>
          <p:nvPr/>
        </p:nvSpPr>
        <p:spPr>
          <a:xfrm>
            <a:off x="475488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82</a:t>
            </a:r>
            <a:endParaRPr lang="en-US" sz="1400" dirty="0"/>
          </a:p>
        </p:txBody>
      </p:sp>
      <p:sp>
        <p:nvSpPr>
          <p:cNvPr id="19" name="Shape 16"/>
          <p:cNvSpPr/>
          <p:nvPr/>
        </p:nvSpPr>
        <p:spPr>
          <a:xfrm>
            <a:off x="5303520" y="1051560"/>
            <a:ext cx="457200" cy="365760"/>
          </a:xfrm>
          <a:prstGeom prst="roundRect">
            <a:avLst>
              <a:gd name="adj" fmla="val 15000"/>
            </a:avLst>
          </a:prstGeom>
          <a:solidFill>
            <a:srgbClr val="16161F"/>
          </a:solidFill>
          <a:ln w="6350">
            <a:solidFill>
              <a:srgbClr val="16161F"/>
            </a:solidFill>
            <a:prstDash val="solid"/>
          </a:ln>
        </p:spPr>
      </p:sp>
      <p:sp>
        <p:nvSpPr>
          <p:cNvPr id="20" name="Text 17"/>
          <p:cNvSpPr txBox="1"/>
          <p:nvPr/>
        </p:nvSpPr>
        <p:spPr>
          <a:xfrm>
            <a:off x="5303520" y="1051560"/>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21" name="Shape 18"/>
          <p:cNvSpPr/>
          <p:nvPr/>
        </p:nvSpPr>
        <p:spPr>
          <a:xfrm>
            <a:off x="1956816" y="1490472"/>
            <a:ext cx="2212848" cy="457200"/>
          </a:xfrm>
          <a:prstGeom prst="roundRect">
            <a:avLst>
              <a:gd name="adj" fmla="val 12000"/>
            </a:avLst>
          </a:prstGeom>
          <a:solidFill>
            <a:srgbClr val="07070C"/>
          </a:solidFill>
          <a:ln w="15875">
            <a:solidFill>
              <a:srgbClr val="22D3EE"/>
            </a:solidFill>
            <a:prstDash val="solid"/>
          </a:ln>
        </p:spPr>
      </p:sp>
      <p:sp>
        <p:nvSpPr>
          <p:cNvPr id="22" name="Shape 19"/>
          <p:cNvSpPr/>
          <p:nvPr/>
        </p:nvSpPr>
        <p:spPr>
          <a:xfrm>
            <a:off x="2011680" y="1536192"/>
            <a:ext cx="457200" cy="365760"/>
          </a:xfrm>
          <a:prstGeom prst="roundRect">
            <a:avLst>
              <a:gd name="adj" fmla="val 15000"/>
            </a:avLst>
          </a:prstGeom>
          <a:solidFill>
            <a:srgbClr val="16161F"/>
          </a:solidFill>
          <a:ln w="6350">
            <a:solidFill>
              <a:srgbClr val="16161F"/>
            </a:solidFill>
            <a:prstDash val="solid"/>
          </a:ln>
        </p:spPr>
      </p:sp>
      <p:sp>
        <p:nvSpPr>
          <p:cNvPr id="23" name="Text 20"/>
          <p:cNvSpPr txBox="1"/>
          <p:nvPr/>
        </p:nvSpPr>
        <p:spPr>
          <a:xfrm>
            <a:off x="201168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38</a:t>
            </a:r>
            <a:endParaRPr lang="en-US" sz="1400" dirty="0"/>
          </a:p>
        </p:txBody>
      </p:sp>
      <p:sp>
        <p:nvSpPr>
          <p:cNvPr id="24" name="Shape 21"/>
          <p:cNvSpPr/>
          <p:nvPr/>
        </p:nvSpPr>
        <p:spPr>
          <a:xfrm>
            <a:off x="2560320" y="1536192"/>
            <a:ext cx="457200" cy="365760"/>
          </a:xfrm>
          <a:prstGeom prst="roundRect">
            <a:avLst>
              <a:gd name="adj" fmla="val 15000"/>
            </a:avLst>
          </a:prstGeom>
          <a:solidFill>
            <a:srgbClr val="16161F"/>
          </a:solidFill>
          <a:ln w="6350">
            <a:solidFill>
              <a:srgbClr val="16161F"/>
            </a:solidFill>
            <a:prstDash val="solid"/>
          </a:ln>
        </p:spPr>
      </p:sp>
      <p:sp>
        <p:nvSpPr>
          <p:cNvPr id="25" name="Text 22"/>
          <p:cNvSpPr txBox="1"/>
          <p:nvPr/>
        </p:nvSpPr>
        <p:spPr>
          <a:xfrm>
            <a:off x="256032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27</a:t>
            </a:r>
            <a:endParaRPr lang="en-US" sz="1400" dirty="0"/>
          </a:p>
        </p:txBody>
      </p:sp>
      <p:sp>
        <p:nvSpPr>
          <p:cNvPr id="26" name="Shape 23"/>
          <p:cNvSpPr/>
          <p:nvPr/>
        </p:nvSpPr>
        <p:spPr>
          <a:xfrm>
            <a:off x="3108960" y="1536192"/>
            <a:ext cx="457200" cy="365760"/>
          </a:xfrm>
          <a:prstGeom prst="roundRect">
            <a:avLst>
              <a:gd name="adj" fmla="val 15000"/>
            </a:avLst>
          </a:prstGeom>
          <a:solidFill>
            <a:srgbClr val="16161F"/>
          </a:solidFill>
          <a:ln w="6350">
            <a:solidFill>
              <a:srgbClr val="16161F"/>
            </a:solidFill>
            <a:prstDash val="solid"/>
          </a:ln>
        </p:spPr>
      </p:sp>
      <p:sp>
        <p:nvSpPr>
          <p:cNvPr id="27" name="Text 24"/>
          <p:cNvSpPr txBox="1"/>
          <p:nvPr/>
        </p:nvSpPr>
        <p:spPr>
          <a:xfrm>
            <a:off x="310896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43</a:t>
            </a:r>
            <a:endParaRPr lang="en-US" sz="1400" dirty="0"/>
          </a:p>
        </p:txBody>
      </p:sp>
      <p:sp>
        <p:nvSpPr>
          <p:cNvPr id="28" name="Shape 25"/>
          <p:cNvSpPr/>
          <p:nvPr/>
        </p:nvSpPr>
        <p:spPr>
          <a:xfrm>
            <a:off x="3657600" y="1536192"/>
            <a:ext cx="457200" cy="365760"/>
          </a:xfrm>
          <a:prstGeom prst="roundRect">
            <a:avLst>
              <a:gd name="adj" fmla="val 15000"/>
            </a:avLst>
          </a:prstGeom>
          <a:solidFill>
            <a:srgbClr val="16161F"/>
          </a:solidFill>
          <a:ln w="6350">
            <a:solidFill>
              <a:srgbClr val="16161F"/>
            </a:solidFill>
            <a:prstDash val="solid"/>
          </a:ln>
        </p:spPr>
      </p:sp>
      <p:sp>
        <p:nvSpPr>
          <p:cNvPr id="29" name="Text 26"/>
          <p:cNvSpPr txBox="1"/>
          <p:nvPr/>
        </p:nvSpPr>
        <p:spPr>
          <a:xfrm>
            <a:off x="365760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0" name="Shape 27"/>
          <p:cNvSpPr/>
          <p:nvPr/>
        </p:nvSpPr>
        <p:spPr>
          <a:xfrm>
            <a:off x="4151376" y="1490472"/>
            <a:ext cx="1664208" cy="457200"/>
          </a:xfrm>
          <a:prstGeom prst="roundRect">
            <a:avLst>
              <a:gd name="adj" fmla="val 12000"/>
            </a:avLst>
          </a:prstGeom>
          <a:solidFill>
            <a:srgbClr val="07070C"/>
          </a:solidFill>
          <a:ln w="15875">
            <a:solidFill>
              <a:srgbClr val="22D3EE"/>
            </a:solidFill>
            <a:prstDash val="solid"/>
          </a:ln>
        </p:spPr>
      </p:sp>
      <p:sp>
        <p:nvSpPr>
          <p:cNvPr id="31" name="Shape 28"/>
          <p:cNvSpPr/>
          <p:nvPr/>
        </p:nvSpPr>
        <p:spPr>
          <a:xfrm>
            <a:off x="4206240" y="1536192"/>
            <a:ext cx="457200" cy="365760"/>
          </a:xfrm>
          <a:prstGeom prst="roundRect">
            <a:avLst>
              <a:gd name="adj" fmla="val 15000"/>
            </a:avLst>
          </a:prstGeom>
          <a:solidFill>
            <a:srgbClr val="16161F"/>
          </a:solidFill>
          <a:ln w="6350">
            <a:solidFill>
              <a:srgbClr val="16161F"/>
            </a:solidFill>
            <a:prstDash val="solid"/>
          </a:ln>
        </p:spPr>
      </p:sp>
      <p:sp>
        <p:nvSpPr>
          <p:cNvPr id="32" name="Text 29"/>
          <p:cNvSpPr txBox="1"/>
          <p:nvPr/>
        </p:nvSpPr>
        <p:spPr>
          <a:xfrm>
            <a:off x="420624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3" name="Shape 30"/>
          <p:cNvSpPr/>
          <p:nvPr/>
        </p:nvSpPr>
        <p:spPr>
          <a:xfrm>
            <a:off x="4754880" y="1536192"/>
            <a:ext cx="457200" cy="365760"/>
          </a:xfrm>
          <a:prstGeom prst="roundRect">
            <a:avLst>
              <a:gd name="adj" fmla="val 15000"/>
            </a:avLst>
          </a:prstGeom>
          <a:solidFill>
            <a:srgbClr val="16161F"/>
          </a:solidFill>
          <a:ln w="6350">
            <a:solidFill>
              <a:srgbClr val="16161F"/>
            </a:solidFill>
            <a:prstDash val="solid"/>
          </a:ln>
        </p:spPr>
      </p:sp>
      <p:sp>
        <p:nvSpPr>
          <p:cNvPr id="34" name="Text 31"/>
          <p:cNvSpPr txBox="1"/>
          <p:nvPr/>
        </p:nvSpPr>
        <p:spPr>
          <a:xfrm>
            <a:off x="475488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82</a:t>
            </a:r>
            <a:endParaRPr lang="en-US" sz="1400" dirty="0"/>
          </a:p>
        </p:txBody>
      </p:sp>
      <p:sp>
        <p:nvSpPr>
          <p:cNvPr id="35" name="Shape 32"/>
          <p:cNvSpPr/>
          <p:nvPr/>
        </p:nvSpPr>
        <p:spPr>
          <a:xfrm>
            <a:off x="5303520" y="1536192"/>
            <a:ext cx="457200" cy="365760"/>
          </a:xfrm>
          <a:prstGeom prst="roundRect">
            <a:avLst>
              <a:gd name="adj" fmla="val 15000"/>
            </a:avLst>
          </a:prstGeom>
          <a:solidFill>
            <a:srgbClr val="16161F"/>
          </a:solidFill>
          <a:ln w="6350">
            <a:solidFill>
              <a:srgbClr val="16161F"/>
            </a:solidFill>
            <a:prstDash val="solid"/>
          </a:ln>
        </p:spPr>
      </p:sp>
      <p:sp>
        <p:nvSpPr>
          <p:cNvPr id="36" name="Text 33"/>
          <p:cNvSpPr txBox="1"/>
          <p:nvPr/>
        </p:nvSpPr>
        <p:spPr>
          <a:xfrm>
            <a:off x="5303520" y="1536192"/>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7" name="Shape 34"/>
          <p:cNvSpPr/>
          <p:nvPr/>
        </p:nvSpPr>
        <p:spPr>
          <a:xfrm>
            <a:off x="1956816" y="1975104"/>
            <a:ext cx="1115568" cy="457200"/>
          </a:xfrm>
          <a:prstGeom prst="roundRect">
            <a:avLst>
              <a:gd name="adj" fmla="val 12000"/>
            </a:avLst>
          </a:prstGeom>
          <a:solidFill>
            <a:srgbClr val="07070C"/>
          </a:solidFill>
          <a:ln w="15875">
            <a:solidFill>
              <a:srgbClr val="22D3EE"/>
            </a:solidFill>
            <a:prstDash val="solid"/>
          </a:ln>
        </p:spPr>
      </p:sp>
      <p:sp>
        <p:nvSpPr>
          <p:cNvPr id="38" name="Shape 35"/>
          <p:cNvSpPr/>
          <p:nvPr/>
        </p:nvSpPr>
        <p:spPr>
          <a:xfrm>
            <a:off x="2011680" y="2020824"/>
            <a:ext cx="457200" cy="365760"/>
          </a:xfrm>
          <a:prstGeom prst="roundRect">
            <a:avLst>
              <a:gd name="adj" fmla="val 15000"/>
            </a:avLst>
          </a:prstGeom>
          <a:solidFill>
            <a:srgbClr val="16161F"/>
          </a:solidFill>
          <a:ln w="6350">
            <a:solidFill>
              <a:srgbClr val="16161F"/>
            </a:solidFill>
            <a:prstDash val="solid"/>
          </a:ln>
        </p:spPr>
      </p:sp>
      <p:sp>
        <p:nvSpPr>
          <p:cNvPr id="39" name="Text 36"/>
          <p:cNvSpPr txBox="1"/>
          <p:nvPr/>
        </p:nvSpPr>
        <p:spPr>
          <a:xfrm>
            <a:off x="201168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38</a:t>
            </a:r>
            <a:endParaRPr lang="en-US" sz="1400" dirty="0"/>
          </a:p>
        </p:txBody>
      </p:sp>
      <p:sp>
        <p:nvSpPr>
          <p:cNvPr id="40" name="Shape 37"/>
          <p:cNvSpPr/>
          <p:nvPr/>
        </p:nvSpPr>
        <p:spPr>
          <a:xfrm>
            <a:off x="2560320" y="2020824"/>
            <a:ext cx="457200" cy="365760"/>
          </a:xfrm>
          <a:prstGeom prst="roundRect">
            <a:avLst>
              <a:gd name="adj" fmla="val 15000"/>
            </a:avLst>
          </a:prstGeom>
          <a:solidFill>
            <a:srgbClr val="16161F"/>
          </a:solidFill>
          <a:ln w="6350">
            <a:solidFill>
              <a:srgbClr val="16161F"/>
            </a:solidFill>
            <a:prstDash val="solid"/>
          </a:ln>
        </p:spPr>
      </p:sp>
      <p:sp>
        <p:nvSpPr>
          <p:cNvPr id="41" name="Text 38"/>
          <p:cNvSpPr txBox="1"/>
          <p:nvPr/>
        </p:nvSpPr>
        <p:spPr>
          <a:xfrm>
            <a:off x="256032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27</a:t>
            </a:r>
            <a:endParaRPr lang="en-US" sz="1400" dirty="0"/>
          </a:p>
        </p:txBody>
      </p:sp>
      <p:sp>
        <p:nvSpPr>
          <p:cNvPr id="42" name="Shape 39"/>
          <p:cNvSpPr/>
          <p:nvPr/>
        </p:nvSpPr>
        <p:spPr>
          <a:xfrm>
            <a:off x="3054096" y="1975104"/>
            <a:ext cx="1115568" cy="457200"/>
          </a:xfrm>
          <a:prstGeom prst="roundRect">
            <a:avLst>
              <a:gd name="adj" fmla="val 12000"/>
            </a:avLst>
          </a:prstGeom>
          <a:solidFill>
            <a:srgbClr val="07070C"/>
          </a:solidFill>
          <a:ln w="15875">
            <a:solidFill>
              <a:srgbClr val="22D3EE"/>
            </a:solidFill>
            <a:prstDash val="solid"/>
          </a:ln>
        </p:spPr>
      </p:sp>
      <p:sp>
        <p:nvSpPr>
          <p:cNvPr id="43" name="Shape 40"/>
          <p:cNvSpPr/>
          <p:nvPr/>
        </p:nvSpPr>
        <p:spPr>
          <a:xfrm>
            <a:off x="3108960" y="2020824"/>
            <a:ext cx="457200" cy="365760"/>
          </a:xfrm>
          <a:prstGeom prst="roundRect">
            <a:avLst>
              <a:gd name="adj" fmla="val 15000"/>
            </a:avLst>
          </a:prstGeom>
          <a:solidFill>
            <a:srgbClr val="16161F"/>
          </a:solidFill>
          <a:ln w="6350">
            <a:solidFill>
              <a:srgbClr val="16161F"/>
            </a:solidFill>
            <a:prstDash val="solid"/>
          </a:ln>
        </p:spPr>
      </p:sp>
      <p:sp>
        <p:nvSpPr>
          <p:cNvPr id="44" name="Text 41"/>
          <p:cNvSpPr txBox="1"/>
          <p:nvPr/>
        </p:nvSpPr>
        <p:spPr>
          <a:xfrm>
            <a:off x="310896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43</a:t>
            </a:r>
            <a:endParaRPr lang="en-US" sz="1400" dirty="0"/>
          </a:p>
        </p:txBody>
      </p:sp>
      <p:sp>
        <p:nvSpPr>
          <p:cNvPr id="45" name="Shape 42"/>
          <p:cNvSpPr/>
          <p:nvPr/>
        </p:nvSpPr>
        <p:spPr>
          <a:xfrm>
            <a:off x="3657600" y="2020824"/>
            <a:ext cx="457200" cy="365760"/>
          </a:xfrm>
          <a:prstGeom prst="roundRect">
            <a:avLst>
              <a:gd name="adj" fmla="val 15000"/>
            </a:avLst>
          </a:prstGeom>
          <a:solidFill>
            <a:srgbClr val="16161F"/>
          </a:solidFill>
          <a:ln w="6350">
            <a:solidFill>
              <a:srgbClr val="16161F"/>
            </a:solidFill>
            <a:prstDash val="solid"/>
          </a:ln>
        </p:spPr>
      </p:sp>
      <p:sp>
        <p:nvSpPr>
          <p:cNvPr id="46" name="Text 43"/>
          <p:cNvSpPr txBox="1"/>
          <p:nvPr/>
        </p:nvSpPr>
        <p:spPr>
          <a:xfrm>
            <a:off x="365760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7" name="Shape 44"/>
          <p:cNvSpPr/>
          <p:nvPr/>
        </p:nvSpPr>
        <p:spPr>
          <a:xfrm>
            <a:off x="4151376" y="1975104"/>
            <a:ext cx="1115568" cy="457200"/>
          </a:xfrm>
          <a:prstGeom prst="roundRect">
            <a:avLst>
              <a:gd name="adj" fmla="val 12000"/>
            </a:avLst>
          </a:prstGeom>
          <a:solidFill>
            <a:srgbClr val="07070C"/>
          </a:solidFill>
          <a:ln w="15875">
            <a:solidFill>
              <a:srgbClr val="22D3EE"/>
            </a:solidFill>
            <a:prstDash val="solid"/>
          </a:ln>
        </p:spPr>
      </p:sp>
      <p:sp>
        <p:nvSpPr>
          <p:cNvPr id="48" name="Shape 45"/>
          <p:cNvSpPr/>
          <p:nvPr/>
        </p:nvSpPr>
        <p:spPr>
          <a:xfrm>
            <a:off x="4206240" y="2020824"/>
            <a:ext cx="457200" cy="365760"/>
          </a:xfrm>
          <a:prstGeom prst="roundRect">
            <a:avLst>
              <a:gd name="adj" fmla="val 15000"/>
            </a:avLst>
          </a:prstGeom>
          <a:solidFill>
            <a:srgbClr val="16161F"/>
          </a:solidFill>
          <a:ln w="6350">
            <a:solidFill>
              <a:srgbClr val="16161F"/>
            </a:solidFill>
            <a:prstDash val="solid"/>
          </a:ln>
        </p:spPr>
      </p:sp>
      <p:sp>
        <p:nvSpPr>
          <p:cNvPr id="49" name="Text 46"/>
          <p:cNvSpPr txBox="1"/>
          <p:nvPr/>
        </p:nvSpPr>
        <p:spPr>
          <a:xfrm>
            <a:off x="420624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50" name="Shape 47"/>
          <p:cNvSpPr/>
          <p:nvPr/>
        </p:nvSpPr>
        <p:spPr>
          <a:xfrm>
            <a:off x="4754880" y="2020824"/>
            <a:ext cx="457200" cy="365760"/>
          </a:xfrm>
          <a:prstGeom prst="roundRect">
            <a:avLst>
              <a:gd name="adj" fmla="val 15000"/>
            </a:avLst>
          </a:prstGeom>
          <a:solidFill>
            <a:srgbClr val="16161F"/>
          </a:solidFill>
          <a:ln w="6350">
            <a:solidFill>
              <a:srgbClr val="16161F"/>
            </a:solidFill>
            <a:prstDash val="solid"/>
          </a:ln>
        </p:spPr>
      </p:sp>
      <p:sp>
        <p:nvSpPr>
          <p:cNvPr id="51" name="Text 48"/>
          <p:cNvSpPr txBox="1"/>
          <p:nvPr/>
        </p:nvSpPr>
        <p:spPr>
          <a:xfrm>
            <a:off x="475488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82</a:t>
            </a:r>
            <a:endParaRPr lang="en-US" sz="1400" dirty="0"/>
          </a:p>
        </p:txBody>
      </p:sp>
      <p:sp>
        <p:nvSpPr>
          <p:cNvPr id="52" name="Shape 49"/>
          <p:cNvSpPr/>
          <p:nvPr/>
        </p:nvSpPr>
        <p:spPr>
          <a:xfrm>
            <a:off x="5248656" y="1975104"/>
            <a:ext cx="566928" cy="457200"/>
          </a:xfrm>
          <a:prstGeom prst="roundRect">
            <a:avLst>
              <a:gd name="adj" fmla="val 12000"/>
            </a:avLst>
          </a:prstGeom>
          <a:solidFill>
            <a:srgbClr val="07070C"/>
          </a:solidFill>
          <a:ln w="15875">
            <a:solidFill>
              <a:srgbClr val="22D3EE"/>
            </a:solidFill>
            <a:prstDash val="solid"/>
          </a:ln>
        </p:spPr>
      </p:sp>
      <p:sp>
        <p:nvSpPr>
          <p:cNvPr id="53" name="Shape 50"/>
          <p:cNvSpPr/>
          <p:nvPr/>
        </p:nvSpPr>
        <p:spPr>
          <a:xfrm>
            <a:off x="5303520" y="2020824"/>
            <a:ext cx="457200" cy="365760"/>
          </a:xfrm>
          <a:prstGeom prst="roundRect">
            <a:avLst>
              <a:gd name="adj" fmla="val 15000"/>
            </a:avLst>
          </a:prstGeom>
          <a:solidFill>
            <a:srgbClr val="16161F"/>
          </a:solidFill>
          <a:ln w="6350">
            <a:solidFill>
              <a:srgbClr val="16161F"/>
            </a:solidFill>
            <a:prstDash val="solid"/>
          </a:ln>
        </p:spPr>
      </p:sp>
      <p:sp>
        <p:nvSpPr>
          <p:cNvPr id="54" name="Text 51"/>
          <p:cNvSpPr txBox="1"/>
          <p:nvPr/>
        </p:nvSpPr>
        <p:spPr>
          <a:xfrm>
            <a:off x="5303520" y="2020824"/>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5" name="Shape 52"/>
          <p:cNvSpPr/>
          <p:nvPr/>
        </p:nvSpPr>
        <p:spPr>
          <a:xfrm>
            <a:off x="1956816" y="2459736"/>
            <a:ext cx="566928" cy="457200"/>
          </a:xfrm>
          <a:prstGeom prst="roundRect">
            <a:avLst>
              <a:gd name="adj" fmla="val 12000"/>
            </a:avLst>
          </a:prstGeom>
          <a:solidFill>
            <a:srgbClr val="07070C"/>
          </a:solidFill>
          <a:ln w="15875">
            <a:solidFill>
              <a:srgbClr val="22D3EE"/>
            </a:solidFill>
            <a:prstDash val="solid"/>
          </a:ln>
        </p:spPr>
      </p:sp>
      <p:sp>
        <p:nvSpPr>
          <p:cNvPr id="56" name="Shape 53"/>
          <p:cNvSpPr/>
          <p:nvPr/>
        </p:nvSpPr>
        <p:spPr>
          <a:xfrm>
            <a:off x="2011680" y="2505456"/>
            <a:ext cx="457200" cy="365760"/>
          </a:xfrm>
          <a:prstGeom prst="roundRect">
            <a:avLst>
              <a:gd name="adj" fmla="val 15000"/>
            </a:avLst>
          </a:prstGeom>
          <a:solidFill>
            <a:srgbClr val="16161F"/>
          </a:solidFill>
          <a:ln w="6350">
            <a:solidFill>
              <a:srgbClr val="16161F"/>
            </a:solidFill>
            <a:prstDash val="solid"/>
          </a:ln>
        </p:spPr>
      </p:sp>
      <p:sp>
        <p:nvSpPr>
          <p:cNvPr id="57" name="Text 54"/>
          <p:cNvSpPr txBox="1"/>
          <p:nvPr/>
        </p:nvSpPr>
        <p:spPr>
          <a:xfrm>
            <a:off x="201168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38</a:t>
            </a:r>
            <a:endParaRPr lang="en-US" sz="1400" dirty="0"/>
          </a:p>
        </p:txBody>
      </p:sp>
      <p:sp>
        <p:nvSpPr>
          <p:cNvPr id="58" name="Shape 55"/>
          <p:cNvSpPr/>
          <p:nvPr/>
        </p:nvSpPr>
        <p:spPr>
          <a:xfrm>
            <a:off x="2505456" y="2459736"/>
            <a:ext cx="566928" cy="457200"/>
          </a:xfrm>
          <a:prstGeom prst="roundRect">
            <a:avLst>
              <a:gd name="adj" fmla="val 12000"/>
            </a:avLst>
          </a:prstGeom>
          <a:solidFill>
            <a:srgbClr val="07070C"/>
          </a:solidFill>
          <a:ln w="15875">
            <a:solidFill>
              <a:srgbClr val="22D3EE"/>
            </a:solidFill>
            <a:prstDash val="solid"/>
          </a:ln>
        </p:spPr>
      </p:sp>
      <p:sp>
        <p:nvSpPr>
          <p:cNvPr id="59" name="Shape 56"/>
          <p:cNvSpPr/>
          <p:nvPr/>
        </p:nvSpPr>
        <p:spPr>
          <a:xfrm>
            <a:off x="2560320" y="2505456"/>
            <a:ext cx="457200" cy="365760"/>
          </a:xfrm>
          <a:prstGeom prst="roundRect">
            <a:avLst>
              <a:gd name="adj" fmla="val 15000"/>
            </a:avLst>
          </a:prstGeom>
          <a:solidFill>
            <a:srgbClr val="16161F"/>
          </a:solidFill>
          <a:ln w="6350">
            <a:solidFill>
              <a:srgbClr val="16161F"/>
            </a:solidFill>
            <a:prstDash val="solid"/>
          </a:ln>
        </p:spPr>
      </p:sp>
      <p:sp>
        <p:nvSpPr>
          <p:cNvPr id="60" name="Text 57"/>
          <p:cNvSpPr txBox="1"/>
          <p:nvPr/>
        </p:nvSpPr>
        <p:spPr>
          <a:xfrm>
            <a:off x="256032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27</a:t>
            </a:r>
            <a:endParaRPr lang="en-US" sz="1400" dirty="0"/>
          </a:p>
        </p:txBody>
      </p:sp>
      <p:sp>
        <p:nvSpPr>
          <p:cNvPr id="61" name="Shape 58"/>
          <p:cNvSpPr/>
          <p:nvPr/>
        </p:nvSpPr>
        <p:spPr>
          <a:xfrm>
            <a:off x="3054096" y="2459736"/>
            <a:ext cx="566928" cy="457200"/>
          </a:xfrm>
          <a:prstGeom prst="roundRect">
            <a:avLst>
              <a:gd name="adj" fmla="val 12000"/>
            </a:avLst>
          </a:prstGeom>
          <a:solidFill>
            <a:srgbClr val="07070C"/>
          </a:solidFill>
          <a:ln w="15875">
            <a:solidFill>
              <a:srgbClr val="22D3EE"/>
            </a:solidFill>
            <a:prstDash val="solid"/>
          </a:ln>
        </p:spPr>
      </p:sp>
      <p:sp>
        <p:nvSpPr>
          <p:cNvPr id="62" name="Shape 59"/>
          <p:cNvSpPr/>
          <p:nvPr/>
        </p:nvSpPr>
        <p:spPr>
          <a:xfrm>
            <a:off x="3108960" y="2505456"/>
            <a:ext cx="457200" cy="365760"/>
          </a:xfrm>
          <a:prstGeom prst="roundRect">
            <a:avLst>
              <a:gd name="adj" fmla="val 15000"/>
            </a:avLst>
          </a:prstGeom>
          <a:solidFill>
            <a:srgbClr val="16161F"/>
          </a:solidFill>
          <a:ln w="6350">
            <a:solidFill>
              <a:srgbClr val="16161F"/>
            </a:solidFill>
            <a:prstDash val="solid"/>
          </a:ln>
        </p:spPr>
      </p:sp>
      <p:sp>
        <p:nvSpPr>
          <p:cNvPr id="63" name="Text 60"/>
          <p:cNvSpPr txBox="1"/>
          <p:nvPr/>
        </p:nvSpPr>
        <p:spPr>
          <a:xfrm>
            <a:off x="310896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43</a:t>
            </a:r>
            <a:endParaRPr lang="en-US" sz="1400" dirty="0"/>
          </a:p>
        </p:txBody>
      </p:sp>
      <p:sp>
        <p:nvSpPr>
          <p:cNvPr id="64" name="Shape 61"/>
          <p:cNvSpPr/>
          <p:nvPr/>
        </p:nvSpPr>
        <p:spPr>
          <a:xfrm>
            <a:off x="3602736" y="2459736"/>
            <a:ext cx="566928" cy="457200"/>
          </a:xfrm>
          <a:prstGeom prst="roundRect">
            <a:avLst>
              <a:gd name="adj" fmla="val 12000"/>
            </a:avLst>
          </a:prstGeom>
          <a:solidFill>
            <a:srgbClr val="07070C"/>
          </a:solidFill>
          <a:ln w="15875">
            <a:solidFill>
              <a:srgbClr val="22D3EE"/>
            </a:solidFill>
            <a:prstDash val="solid"/>
          </a:ln>
        </p:spPr>
      </p:sp>
      <p:sp>
        <p:nvSpPr>
          <p:cNvPr id="65" name="Shape 62"/>
          <p:cNvSpPr/>
          <p:nvPr/>
        </p:nvSpPr>
        <p:spPr>
          <a:xfrm>
            <a:off x="3657600" y="2505456"/>
            <a:ext cx="457200" cy="365760"/>
          </a:xfrm>
          <a:prstGeom prst="roundRect">
            <a:avLst>
              <a:gd name="adj" fmla="val 15000"/>
            </a:avLst>
          </a:prstGeom>
          <a:solidFill>
            <a:srgbClr val="16161F"/>
          </a:solidFill>
          <a:ln w="6350">
            <a:solidFill>
              <a:srgbClr val="16161F"/>
            </a:solidFill>
            <a:prstDash val="solid"/>
          </a:ln>
        </p:spPr>
      </p:sp>
      <p:sp>
        <p:nvSpPr>
          <p:cNvPr id="66" name="Text 63"/>
          <p:cNvSpPr txBox="1"/>
          <p:nvPr/>
        </p:nvSpPr>
        <p:spPr>
          <a:xfrm>
            <a:off x="365760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67" name="Shape 64"/>
          <p:cNvSpPr/>
          <p:nvPr/>
        </p:nvSpPr>
        <p:spPr>
          <a:xfrm>
            <a:off x="4151376" y="2459736"/>
            <a:ext cx="566928" cy="457200"/>
          </a:xfrm>
          <a:prstGeom prst="roundRect">
            <a:avLst>
              <a:gd name="adj" fmla="val 12000"/>
            </a:avLst>
          </a:prstGeom>
          <a:solidFill>
            <a:srgbClr val="07070C"/>
          </a:solidFill>
          <a:ln w="15875">
            <a:solidFill>
              <a:srgbClr val="22D3EE"/>
            </a:solidFill>
            <a:prstDash val="solid"/>
          </a:ln>
        </p:spPr>
      </p:sp>
      <p:sp>
        <p:nvSpPr>
          <p:cNvPr id="68" name="Shape 65"/>
          <p:cNvSpPr/>
          <p:nvPr/>
        </p:nvSpPr>
        <p:spPr>
          <a:xfrm>
            <a:off x="4206240" y="2505456"/>
            <a:ext cx="457200" cy="365760"/>
          </a:xfrm>
          <a:prstGeom prst="roundRect">
            <a:avLst>
              <a:gd name="adj" fmla="val 15000"/>
            </a:avLst>
          </a:prstGeom>
          <a:solidFill>
            <a:srgbClr val="16161F"/>
          </a:solidFill>
          <a:ln w="6350">
            <a:solidFill>
              <a:srgbClr val="16161F"/>
            </a:solidFill>
            <a:prstDash val="solid"/>
          </a:ln>
        </p:spPr>
      </p:sp>
      <p:sp>
        <p:nvSpPr>
          <p:cNvPr id="69" name="Text 66"/>
          <p:cNvSpPr txBox="1"/>
          <p:nvPr/>
        </p:nvSpPr>
        <p:spPr>
          <a:xfrm>
            <a:off x="420624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70" name="Shape 67"/>
          <p:cNvSpPr/>
          <p:nvPr/>
        </p:nvSpPr>
        <p:spPr>
          <a:xfrm>
            <a:off x="4700016" y="2459736"/>
            <a:ext cx="566928" cy="457200"/>
          </a:xfrm>
          <a:prstGeom prst="roundRect">
            <a:avLst>
              <a:gd name="adj" fmla="val 12000"/>
            </a:avLst>
          </a:prstGeom>
          <a:solidFill>
            <a:srgbClr val="07070C"/>
          </a:solidFill>
          <a:ln w="15875">
            <a:solidFill>
              <a:srgbClr val="22D3EE"/>
            </a:solidFill>
            <a:prstDash val="solid"/>
          </a:ln>
        </p:spPr>
      </p:sp>
      <p:sp>
        <p:nvSpPr>
          <p:cNvPr id="71" name="Shape 68"/>
          <p:cNvSpPr/>
          <p:nvPr/>
        </p:nvSpPr>
        <p:spPr>
          <a:xfrm>
            <a:off x="4754880" y="2505456"/>
            <a:ext cx="457200" cy="365760"/>
          </a:xfrm>
          <a:prstGeom prst="roundRect">
            <a:avLst>
              <a:gd name="adj" fmla="val 15000"/>
            </a:avLst>
          </a:prstGeom>
          <a:solidFill>
            <a:srgbClr val="16161F"/>
          </a:solidFill>
          <a:ln w="6350">
            <a:solidFill>
              <a:srgbClr val="16161F"/>
            </a:solidFill>
            <a:prstDash val="solid"/>
          </a:ln>
        </p:spPr>
      </p:sp>
      <p:sp>
        <p:nvSpPr>
          <p:cNvPr id="72" name="Text 69"/>
          <p:cNvSpPr txBox="1"/>
          <p:nvPr/>
        </p:nvSpPr>
        <p:spPr>
          <a:xfrm>
            <a:off x="475488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82</a:t>
            </a:r>
            <a:endParaRPr lang="en-US" sz="1400" dirty="0"/>
          </a:p>
        </p:txBody>
      </p:sp>
      <p:sp>
        <p:nvSpPr>
          <p:cNvPr id="73" name="Shape 70"/>
          <p:cNvSpPr/>
          <p:nvPr/>
        </p:nvSpPr>
        <p:spPr>
          <a:xfrm>
            <a:off x="5248656" y="2459736"/>
            <a:ext cx="566928" cy="457200"/>
          </a:xfrm>
          <a:prstGeom prst="roundRect">
            <a:avLst>
              <a:gd name="adj" fmla="val 12000"/>
            </a:avLst>
          </a:prstGeom>
          <a:solidFill>
            <a:srgbClr val="07070C"/>
          </a:solidFill>
          <a:ln w="15875">
            <a:solidFill>
              <a:srgbClr val="22D3EE"/>
            </a:solidFill>
            <a:prstDash val="solid"/>
          </a:ln>
        </p:spPr>
      </p:sp>
      <p:sp>
        <p:nvSpPr>
          <p:cNvPr id="74" name="Shape 71"/>
          <p:cNvSpPr/>
          <p:nvPr/>
        </p:nvSpPr>
        <p:spPr>
          <a:xfrm>
            <a:off x="5303520" y="2505456"/>
            <a:ext cx="457200" cy="365760"/>
          </a:xfrm>
          <a:prstGeom prst="roundRect">
            <a:avLst>
              <a:gd name="adj" fmla="val 15000"/>
            </a:avLst>
          </a:prstGeom>
          <a:solidFill>
            <a:srgbClr val="16161F"/>
          </a:solidFill>
          <a:ln w="6350">
            <a:solidFill>
              <a:srgbClr val="16161F"/>
            </a:solidFill>
            <a:prstDash val="solid"/>
          </a:ln>
        </p:spPr>
      </p:sp>
      <p:sp>
        <p:nvSpPr>
          <p:cNvPr id="75" name="Text 72"/>
          <p:cNvSpPr txBox="1"/>
          <p:nvPr/>
        </p:nvSpPr>
        <p:spPr>
          <a:xfrm>
            <a:off x="5303520" y="2505456"/>
            <a:ext cx="457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76" name="Shape 73"/>
          <p:cNvSpPr/>
          <p:nvPr/>
        </p:nvSpPr>
        <p:spPr>
          <a:xfrm>
            <a:off x="1956816" y="2944368"/>
            <a:ext cx="1115568" cy="457200"/>
          </a:xfrm>
          <a:prstGeom prst="roundRect">
            <a:avLst>
              <a:gd name="adj" fmla="val 12000"/>
            </a:avLst>
          </a:prstGeom>
          <a:solidFill>
            <a:srgbClr val="07070C"/>
          </a:solidFill>
          <a:ln w="15875">
            <a:solidFill>
              <a:srgbClr val="F472B6"/>
            </a:solidFill>
            <a:prstDash val="solid"/>
          </a:ln>
        </p:spPr>
      </p:sp>
      <p:sp>
        <p:nvSpPr>
          <p:cNvPr id="77" name="Shape 74"/>
          <p:cNvSpPr/>
          <p:nvPr/>
        </p:nvSpPr>
        <p:spPr>
          <a:xfrm>
            <a:off x="2011680" y="2990088"/>
            <a:ext cx="457200" cy="365760"/>
          </a:xfrm>
          <a:prstGeom prst="roundRect">
            <a:avLst>
              <a:gd name="adj" fmla="val 15000"/>
            </a:avLst>
          </a:prstGeom>
          <a:solidFill>
            <a:srgbClr val="F472B6"/>
          </a:solidFill>
          <a:ln w="6350">
            <a:solidFill>
              <a:srgbClr val="F472B6"/>
            </a:solidFill>
            <a:prstDash val="solid"/>
          </a:ln>
        </p:spPr>
      </p:sp>
      <p:sp>
        <p:nvSpPr>
          <p:cNvPr id="78" name="Text 75"/>
          <p:cNvSpPr txBox="1"/>
          <p:nvPr/>
        </p:nvSpPr>
        <p:spPr>
          <a:xfrm>
            <a:off x="201168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27</a:t>
            </a:r>
            <a:endParaRPr lang="en-US" sz="1400" dirty="0"/>
          </a:p>
        </p:txBody>
      </p:sp>
      <p:sp>
        <p:nvSpPr>
          <p:cNvPr id="79" name="Shape 76"/>
          <p:cNvSpPr/>
          <p:nvPr/>
        </p:nvSpPr>
        <p:spPr>
          <a:xfrm>
            <a:off x="2560320" y="2990088"/>
            <a:ext cx="457200" cy="365760"/>
          </a:xfrm>
          <a:prstGeom prst="roundRect">
            <a:avLst>
              <a:gd name="adj" fmla="val 15000"/>
            </a:avLst>
          </a:prstGeom>
          <a:solidFill>
            <a:srgbClr val="F472B6"/>
          </a:solidFill>
          <a:ln w="6350">
            <a:solidFill>
              <a:srgbClr val="F472B6"/>
            </a:solidFill>
            <a:prstDash val="solid"/>
          </a:ln>
        </p:spPr>
      </p:sp>
      <p:sp>
        <p:nvSpPr>
          <p:cNvPr id="80" name="Text 77"/>
          <p:cNvSpPr txBox="1"/>
          <p:nvPr/>
        </p:nvSpPr>
        <p:spPr>
          <a:xfrm>
            <a:off x="256032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38</a:t>
            </a:r>
            <a:endParaRPr lang="en-US" sz="1400" dirty="0"/>
          </a:p>
        </p:txBody>
      </p:sp>
      <p:sp>
        <p:nvSpPr>
          <p:cNvPr id="81" name="Shape 78"/>
          <p:cNvSpPr/>
          <p:nvPr/>
        </p:nvSpPr>
        <p:spPr>
          <a:xfrm>
            <a:off x="3054096" y="2944368"/>
            <a:ext cx="1115568" cy="457200"/>
          </a:xfrm>
          <a:prstGeom prst="roundRect">
            <a:avLst>
              <a:gd name="adj" fmla="val 12000"/>
            </a:avLst>
          </a:prstGeom>
          <a:solidFill>
            <a:srgbClr val="07070C"/>
          </a:solidFill>
          <a:ln w="15875">
            <a:solidFill>
              <a:srgbClr val="F472B6"/>
            </a:solidFill>
            <a:prstDash val="solid"/>
          </a:ln>
        </p:spPr>
      </p:sp>
      <p:sp>
        <p:nvSpPr>
          <p:cNvPr id="82" name="Shape 79"/>
          <p:cNvSpPr/>
          <p:nvPr/>
        </p:nvSpPr>
        <p:spPr>
          <a:xfrm>
            <a:off x="3108960" y="2990088"/>
            <a:ext cx="457200" cy="365760"/>
          </a:xfrm>
          <a:prstGeom prst="roundRect">
            <a:avLst>
              <a:gd name="adj" fmla="val 15000"/>
            </a:avLst>
          </a:prstGeom>
          <a:solidFill>
            <a:srgbClr val="F472B6"/>
          </a:solidFill>
          <a:ln w="6350">
            <a:solidFill>
              <a:srgbClr val="F472B6"/>
            </a:solidFill>
            <a:prstDash val="solid"/>
          </a:ln>
        </p:spPr>
      </p:sp>
      <p:sp>
        <p:nvSpPr>
          <p:cNvPr id="83" name="Text 80"/>
          <p:cNvSpPr txBox="1"/>
          <p:nvPr/>
        </p:nvSpPr>
        <p:spPr>
          <a:xfrm>
            <a:off x="310896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84" name="Shape 81"/>
          <p:cNvSpPr/>
          <p:nvPr/>
        </p:nvSpPr>
        <p:spPr>
          <a:xfrm>
            <a:off x="3657600" y="2990088"/>
            <a:ext cx="457200" cy="365760"/>
          </a:xfrm>
          <a:prstGeom prst="roundRect">
            <a:avLst>
              <a:gd name="adj" fmla="val 15000"/>
            </a:avLst>
          </a:prstGeom>
          <a:solidFill>
            <a:srgbClr val="F472B6"/>
          </a:solidFill>
          <a:ln w="6350">
            <a:solidFill>
              <a:srgbClr val="F472B6"/>
            </a:solidFill>
            <a:prstDash val="solid"/>
          </a:ln>
        </p:spPr>
      </p:sp>
      <p:sp>
        <p:nvSpPr>
          <p:cNvPr id="85" name="Text 82"/>
          <p:cNvSpPr txBox="1"/>
          <p:nvPr/>
        </p:nvSpPr>
        <p:spPr>
          <a:xfrm>
            <a:off x="365760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43</a:t>
            </a:r>
            <a:endParaRPr lang="en-US" sz="1400" dirty="0"/>
          </a:p>
        </p:txBody>
      </p:sp>
      <p:sp>
        <p:nvSpPr>
          <p:cNvPr id="86" name="Shape 83"/>
          <p:cNvSpPr/>
          <p:nvPr/>
        </p:nvSpPr>
        <p:spPr>
          <a:xfrm>
            <a:off x="4151376" y="2944368"/>
            <a:ext cx="1115568" cy="457200"/>
          </a:xfrm>
          <a:prstGeom prst="roundRect">
            <a:avLst>
              <a:gd name="adj" fmla="val 12000"/>
            </a:avLst>
          </a:prstGeom>
          <a:solidFill>
            <a:srgbClr val="07070C"/>
          </a:solidFill>
          <a:ln w="15875">
            <a:solidFill>
              <a:srgbClr val="F472B6"/>
            </a:solidFill>
            <a:prstDash val="solid"/>
          </a:ln>
        </p:spPr>
      </p:sp>
      <p:sp>
        <p:nvSpPr>
          <p:cNvPr id="87" name="Shape 84"/>
          <p:cNvSpPr/>
          <p:nvPr/>
        </p:nvSpPr>
        <p:spPr>
          <a:xfrm>
            <a:off x="4206240" y="2990088"/>
            <a:ext cx="457200" cy="365760"/>
          </a:xfrm>
          <a:prstGeom prst="roundRect">
            <a:avLst>
              <a:gd name="adj" fmla="val 15000"/>
            </a:avLst>
          </a:prstGeom>
          <a:solidFill>
            <a:srgbClr val="F472B6"/>
          </a:solidFill>
          <a:ln w="6350">
            <a:solidFill>
              <a:srgbClr val="F472B6"/>
            </a:solidFill>
            <a:prstDash val="solid"/>
          </a:ln>
        </p:spPr>
      </p:sp>
      <p:sp>
        <p:nvSpPr>
          <p:cNvPr id="88" name="Text 85"/>
          <p:cNvSpPr txBox="1"/>
          <p:nvPr/>
        </p:nvSpPr>
        <p:spPr>
          <a:xfrm>
            <a:off x="420624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9</a:t>
            </a:r>
            <a:endParaRPr lang="en-US" sz="1400" dirty="0"/>
          </a:p>
        </p:txBody>
      </p:sp>
      <p:sp>
        <p:nvSpPr>
          <p:cNvPr id="89" name="Shape 86"/>
          <p:cNvSpPr/>
          <p:nvPr/>
        </p:nvSpPr>
        <p:spPr>
          <a:xfrm>
            <a:off x="4754880" y="2990088"/>
            <a:ext cx="457200" cy="365760"/>
          </a:xfrm>
          <a:prstGeom prst="roundRect">
            <a:avLst>
              <a:gd name="adj" fmla="val 15000"/>
            </a:avLst>
          </a:prstGeom>
          <a:solidFill>
            <a:srgbClr val="F472B6"/>
          </a:solidFill>
          <a:ln w="6350">
            <a:solidFill>
              <a:srgbClr val="F472B6"/>
            </a:solidFill>
            <a:prstDash val="solid"/>
          </a:ln>
        </p:spPr>
      </p:sp>
      <p:sp>
        <p:nvSpPr>
          <p:cNvPr id="90" name="Text 87"/>
          <p:cNvSpPr txBox="1"/>
          <p:nvPr/>
        </p:nvSpPr>
        <p:spPr>
          <a:xfrm>
            <a:off x="475488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82</a:t>
            </a:r>
            <a:endParaRPr lang="en-US" sz="1400" dirty="0"/>
          </a:p>
        </p:txBody>
      </p:sp>
      <p:sp>
        <p:nvSpPr>
          <p:cNvPr id="91" name="Shape 88"/>
          <p:cNvSpPr/>
          <p:nvPr/>
        </p:nvSpPr>
        <p:spPr>
          <a:xfrm>
            <a:off x="5248656" y="2944368"/>
            <a:ext cx="566928" cy="457200"/>
          </a:xfrm>
          <a:prstGeom prst="roundRect">
            <a:avLst>
              <a:gd name="adj" fmla="val 12000"/>
            </a:avLst>
          </a:prstGeom>
          <a:solidFill>
            <a:srgbClr val="07070C"/>
          </a:solidFill>
          <a:ln w="15875">
            <a:solidFill>
              <a:srgbClr val="F472B6"/>
            </a:solidFill>
            <a:prstDash val="solid"/>
          </a:ln>
        </p:spPr>
      </p:sp>
      <p:sp>
        <p:nvSpPr>
          <p:cNvPr id="92" name="Shape 89"/>
          <p:cNvSpPr/>
          <p:nvPr/>
        </p:nvSpPr>
        <p:spPr>
          <a:xfrm>
            <a:off x="5303520" y="2990088"/>
            <a:ext cx="457200" cy="365760"/>
          </a:xfrm>
          <a:prstGeom prst="roundRect">
            <a:avLst>
              <a:gd name="adj" fmla="val 15000"/>
            </a:avLst>
          </a:prstGeom>
          <a:solidFill>
            <a:srgbClr val="F472B6"/>
          </a:solidFill>
          <a:ln w="6350">
            <a:solidFill>
              <a:srgbClr val="F472B6"/>
            </a:solidFill>
            <a:prstDash val="solid"/>
          </a:ln>
        </p:spPr>
      </p:sp>
      <p:sp>
        <p:nvSpPr>
          <p:cNvPr id="93" name="Text 90"/>
          <p:cNvSpPr txBox="1"/>
          <p:nvPr/>
        </p:nvSpPr>
        <p:spPr>
          <a:xfrm>
            <a:off x="5303520" y="2990088"/>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10</a:t>
            </a:r>
            <a:endParaRPr lang="en-US" sz="1400" dirty="0"/>
          </a:p>
        </p:txBody>
      </p:sp>
      <p:sp>
        <p:nvSpPr>
          <p:cNvPr id="94" name="Shape 91"/>
          <p:cNvSpPr/>
          <p:nvPr/>
        </p:nvSpPr>
        <p:spPr>
          <a:xfrm>
            <a:off x="1956816" y="3429000"/>
            <a:ext cx="2212848" cy="457200"/>
          </a:xfrm>
          <a:prstGeom prst="roundRect">
            <a:avLst>
              <a:gd name="adj" fmla="val 12000"/>
            </a:avLst>
          </a:prstGeom>
          <a:solidFill>
            <a:srgbClr val="07070C"/>
          </a:solidFill>
          <a:ln w="15875">
            <a:solidFill>
              <a:srgbClr val="F472B6"/>
            </a:solidFill>
            <a:prstDash val="solid"/>
          </a:ln>
        </p:spPr>
      </p:sp>
      <p:sp>
        <p:nvSpPr>
          <p:cNvPr id="95" name="Shape 92"/>
          <p:cNvSpPr/>
          <p:nvPr/>
        </p:nvSpPr>
        <p:spPr>
          <a:xfrm>
            <a:off x="2011680" y="3474720"/>
            <a:ext cx="457200" cy="365760"/>
          </a:xfrm>
          <a:prstGeom prst="roundRect">
            <a:avLst>
              <a:gd name="adj" fmla="val 15000"/>
            </a:avLst>
          </a:prstGeom>
          <a:solidFill>
            <a:srgbClr val="F472B6"/>
          </a:solidFill>
          <a:ln w="6350">
            <a:solidFill>
              <a:srgbClr val="F472B6"/>
            </a:solidFill>
            <a:prstDash val="solid"/>
          </a:ln>
        </p:spPr>
      </p:sp>
      <p:sp>
        <p:nvSpPr>
          <p:cNvPr id="96" name="Text 93"/>
          <p:cNvSpPr txBox="1"/>
          <p:nvPr/>
        </p:nvSpPr>
        <p:spPr>
          <a:xfrm>
            <a:off x="201168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97" name="Shape 94"/>
          <p:cNvSpPr/>
          <p:nvPr/>
        </p:nvSpPr>
        <p:spPr>
          <a:xfrm>
            <a:off x="2560320" y="3474720"/>
            <a:ext cx="457200" cy="365760"/>
          </a:xfrm>
          <a:prstGeom prst="roundRect">
            <a:avLst>
              <a:gd name="adj" fmla="val 15000"/>
            </a:avLst>
          </a:prstGeom>
          <a:solidFill>
            <a:srgbClr val="F472B6"/>
          </a:solidFill>
          <a:ln w="6350">
            <a:solidFill>
              <a:srgbClr val="F472B6"/>
            </a:solidFill>
            <a:prstDash val="solid"/>
          </a:ln>
        </p:spPr>
      </p:sp>
      <p:sp>
        <p:nvSpPr>
          <p:cNvPr id="98" name="Text 95"/>
          <p:cNvSpPr txBox="1"/>
          <p:nvPr/>
        </p:nvSpPr>
        <p:spPr>
          <a:xfrm>
            <a:off x="256032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27</a:t>
            </a:r>
            <a:endParaRPr lang="en-US" sz="1400" dirty="0"/>
          </a:p>
        </p:txBody>
      </p:sp>
      <p:sp>
        <p:nvSpPr>
          <p:cNvPr id="99" name="Shape 96"/>
          <p:cNvSpPr/>
          <p:nvPr/>
        </p:nvSpPr>
        <p:spPr>
          <a:xfrm>
            <a:off x="3108960" y="3474720"/>
            <a:ext cx="457200" cy="365760"/>
          </a:xfrm>
          <a:prstGeom prst="roundRect">
            <a:avLst>
              <a:gd name="adj" fmla="val 15000"/>
            </a:avLst>
          </a:prstGeom>
          <a:solidFill>
            <a:srgbClr val="F472B6"/>
          </a:solidFill>
          <a:ln w="6350">
            <a:solidFill>
              <a:srgbClr val="F472B6"/>
            </a:solidFill>
            <a:prstDash val="solid"/>
          </a:ln>
        </p:spPr>
      </p:sp>
      <p:sp>
        <p:nvSpPr>
          <p:cNvPr id="100" name="Text 97"/>
          <p:cNvSpPr txBox="1"/>
          <p:nvPr/>
        </p:nvSpPr>
        <p:spPr>
          <a:xfrm>
            <a:off x="310896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38</a:t>
            </a:r>
            <a:endParaRPr lang="en-US" sz="1400" dirty="0"/>
          </a:p>
        </p:txBody>
      </p:sp>
      <p:sp>
        <p:nvSpPr>
          <p:cNvPr id="101" name="Shape 98"/>
          <p:cNvSpPr/>
          <p:nvPr/>
        </p:nvSpPr>
        <p:spPr>
          <a:xfrm>
            <a:off x="3657600" y="3474720"/>
            <a:ext cx="457200" cy="365760"/>
          </a:xfrm>
          <a:prstGeom prst="roundRect">
            <a:avLst>
              <a:gd name="adj" fmla="val 15000"/>
            </a:avLst>
          </a:prstGeom>
          <a:solidFill>
            <a:srgbClr val="F472B6"/>
          </a:solidFill>
          <a:ln w="6350">
            <a:solidFill>
              <a:srgbClr val="F472B6"/>
            </a:solidFill>
            <a:prstDash val="solid"/>
          </a:ln>
        </p:spPr>
      </p:sp>
      <p:sp>
        <p:nvSpPr>
          <p:cNvPr id="102" name="Text 99"/>
          <p:cNvSpPr txBox="1"/>
          <p:nvPr/>
        </p:nvSpPr>
        <p:spPr>
          <a:xfrm>
            <a:off x="365760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43</a:t>
            </a:r>
            <a:endParaRPr lang="en-US" sz="1400" dirty="0"/>
          </a:p>
        </p:txBody>
      </p:sp>
      <p:sp>
        <p:nvSpPr>
          <p:cNvPr id="103" name="Shape 100"/>
          <p:cNvSpPr/>
          <p:nvPr/>
        </p:nvSpPr>
        <p:spPr>
          <a:xfrm>
            <a:off x="4151376" y="3429000"/>
            <a:ext cx="1664208" cy="457200"/>
          </a:xfrm>
          <a:prstGeom prst="roundRect">
            <a:avLst>
              <a:gd name="adj" fmla="val 12000"/>
            </a:avLst>
          </a:prstGeom>
          <a:solidFill>
            <a:srgbClr val="07070C"/>
          </a:solidFill>
          <a:ln w="15875">
            <a:solidFill>
              <a:srgbClr val="F472B6"/>
            </a:solidFill>
            <a:prstDash val="solid"/>
          </a:ln>
        </p:spPr>
      </p:sp>
      <p:sp>
        <p:nvSpPr>
          <p:cNvPr id="104" name="Shape 101"/>
          <p:cNvSpPr/>
          <p:nvPr/>
        </p:nvSpPr>
        <p:spPr>
          <a:xfrm>
            <a:off x="4206240" y="3474720"/>
            <a:ext cx="457200" cy="365760"/>
          </a:xfrm>
          <a:prstGeom prst="roundRect">
            <a:avLst>
              <a:gd name="adj" fmla="val 15000"/>
            </a:avLst>
          </a:prstGeom>
          <a:solidFill>
            <a:srgbClr val="F472B6"/>
          </a:solidFill>
          <a:ln w="6350">
            <a:solidFill>
              <a:srgbClr val="F472B6"/>
            </a:solidFill>
            <a:prstDash val="solid"/>
          </a:ln>
        </p:spPr>
      </p:sp>
      <p:sp>
        <p:nvSpPr>
          <p:cNvPr id="105" name="Text 102"/>
          <p:cNvSpPr txBox="1"/>
          <p:nvPr/>
        </p:nvSpPr>
        <p:spPr>
          <a:xfrm>
            <a:off x="420624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9</a:t>
            </a:r>
            <a:endParaRPr lang="en-US" sz="1400" dirty="0"/>
          </a:p>
        </p:txBody>
      </p:sp>
      <p:sp>
        <p:nvSpPr>
          <p:cNvPr id="106" name="Shape 103"/>
          <p:cNvSpPr/>
          <p:nvPr/>
        </p:nvSpPr>
        <p:spPr>
          <a:xfrm>
            <a:off x="4754880" y="3474720"/>
            <a:ext cx="457200" cy="365760"/>
          </a:xfrm>
          <a:prstGeom prst="roundRect">
            <a:avLst>
              <a:gd name="adj" fmla="val 15000"/>
            </a:avLst>
          </a:prstGeom>
          <a:solidFill>
            <a:srgbClr val="F472B6"/>
          </a:solidFill>
          <a:ln w="6350">
            <a:solidFill>
              <a:srgbClr val="F472B6"/>
            </a:solidFill>
            <a:prstDash val="solid"/>
          </a:ln>
        </p:spPr>
      </p:sp>
      <p:sp>
        <p:nvSpPr>
          <p:cNvPr id="107" name="Text 104"/>
          <p:cNvSpPr txBox="1"/>
          <p:nvPr/>
        </p:nvSpPr>
        <p:spPr>
          <a:xfrm>
            <a:off x="475488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10</a:t>
            </a:r>
            <a:endParaRPr lang="en-US" sz="1400" dirty="0"/>
          </a:p>
        </p:txBody>
      </p:sp>
      <p:sp>
        <p:nvSpPr>
          <p:cNvPr id="108" name="Shape 105"/>
          <p:cNvSpPr/>
          <p:nvPr/>
        </p:nvSpPr>
        <p:spPr>
          <a:xfrm>
            <a:off x="5303520" y="3474720"/>
            <a:ext cx="457200" cy="365760"/>
          </a:xfrm>
          <a:prstGeom prst="roundRect">
            <a:avLst>
              <a:gd name="adj" fmla="val 15000"/>
            </a:avLst>
          </a:prstGeom>
          <a:solidFill>
            <a:srgbClr val="F472B6"/>
          </a:solidFill>
          <a:ln w="6350">
            <a:solidFill>
              <a:srgbClr val="F472B6"/>
            </a:solidFill>
            <a:prstDash val="solid"/>
          </a:ln>
        </p:spPr>
      </p:sp>
      <p:sp>
        <p:nvSpPr>
          <p:cNvPr id="109" name="Text 106"/>
          <p:cNvSpPr txBox="1"/>
          <p:nvPr/>
        </p:nvSpPr>
        <p:spPr>
          <a:xfrm>
            <a:off x="5303520" y="347472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82</a:t>
            </a:r>
            <a:endParaRPr lang="en-US" sz="1400" dirty="0"/>
          </a:p>
        </p:txBody>
      </p:sp>
      <p:sp>
        <p:nvSpPr>
          <p:cNvPr id="110" name="Shape 107"/>
          <p:cNvSpPr/>
          <p:nvPr/>
        </p:nvSpPr>
        <p:spPr>
          <a:xfrm>
            <a:off x="1956816" y="3913632"/>
            <a:ext cx="3858768" cy="457200"/>
          </a:xfrm>
          <a:prstGeom prst="roundRect">
            <a:avLst>
              <a:gd name="adj" fmla="val 12000"/>
            </a:avLst>
          </a:prstGeom>
          <a:solidFill>
            <a:srgbClr val="07070C"/>
          </a:solidFill>
          <a:ln w="15875">
            <a:solidFill>
              <a:srgbClr val="34D399"/>
            </a:solidFill>
            <a:prstDash val="solid"/>
          </a:ln>
        </p:spPr>
      </p:sp>
      <p:sp>
        <p:nvSpPr>
          <p:cNvPr id="111" name="Shape 108"/>
          <p:cNvSpPr/>
          <p:nvPr/>
        </p:nvSpPr>
        <p:spPr>
          <a:xfrm>
            <a:off x="2011680" y="3959352"/>
            <a:ext cx="457200" cy="365760"/>
          </a:xfrm>
          <a:prstGeom prst="roundRect">
            <a:avLst>
              <a:gd name="adj" fmla="val 15000"/>
            </a:avLst>
          </a:prstGeom>
          <a:solidFill>
            <a:srgbClr val="34D399"/>
          </a:solidFill>
          <a:ln w="6350">
            <a:solidFill>
              <a:srgbClr val="34D399"/>
            </a:solidFill>
            <a:prstDash val="solid"/>
          </a:ln>
        </p:spPr>
      </p:sp>
      <p:sp>
        <p:nvSpPr>
          <p:cNvPr id="112" name="Text 109"/>
          <p:cNvSpPr txBox="1"/>
          <p:nvPr/>
        </p:nvSpPr>
        <p:spPr>
          <a:xfrm>
            <a:off x="201168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113" name="Shape 110"/>
          <p:cNvSpPr/>
          <p:nvPr/>
        </p:nvSpPr>
        <p:spPr>
          <a:xfrm>
            <a:off x="2560320" y="3959352"/>
            <a:ext cx="457200" cy="365760"/>
          </a:xfrm>
          <a:prstGeom prst="roundRect">
            <a:avLst>
              <a:gd name="adj" fmla="val 15000"/>
            </a:avLst>
          </a:prstGeom>
          <a:solidFill>
            <a:srgbClr val="34D399"/>
          </a:solidFill>
          <a:ln w="6350">
            <a:solidFill>
              <a:srgbClr val="34D399"/>
            </a:solidFill>
            <a:prstDash val="solid"/>
          </a:ln>
        </p:spPr>
      </p:sp>
      <p:sp>
        <p:nvSpPr>
          <p:cNvPr id="114" name="Text 111"/>
          <p:cNvSpPr txBox="1"/>
          <p:nvPr/>
        </p:nvSpPr>
        <p:spPr>
          <a:xfrm>
            <a:off x="256032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9</a:t>
            </a:r>
            <a:endParaRPr lang="en-US" sz="1400" dirty="0"/>
          </a:p>
        </p:txBody>
      </p:sp>
      <p:sp>
        <p:nvSpPr>
          <p:cNvPr id="115" name="Shape 112"/>
          <p:cNvSpPr/>
          <p:nvPr/>
        </p:nvSpPr>
        <p:spPr>
          <a:xfrm>
            <a:off x="3108960" y="3959352"/>
            <a:ext cx="457200" cy="365760"/>
          </a:xfrm>
          <a:prstGeom prst="roundRect">
            <a:avLst>
              <a:gd name="adj" fmla="val 15000"/>
            </a:avLst>
          </a:prstGeom>
          <a:solidFill>
            <a:srgbClr val="34D399"/>
          </a:solidFill>
          <a:ln w="6350">
            <a:solidFill>
              <a:srgbClr val="34D399"/>
            </a:solidFill>
            <a:prstDash val="solid"/>
          </a:ln>
        </p:spPr>
      </p:sp>
      <p:sp>
        <p:nvSpPr>
          <p:cNvPr id="116" name="Text 113"/>
          <p:cNvSpPr txBox="1"/>
          <p:nvPr/>
        </p:nvSpPr>
        <p:spPr>
          <a:xfrm>
            <a:off x="310896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10</a:t>
            </a:r>
            <a:endParaRPr lang="en-US" sz="1400" dirty="0"/>
          </a:p>
        </p:txBody>
      </p:sp>
      <p:sp>
        <p:nvSpPr>
          <p:cNvPr id="117" name="Shape 114"/>
          <p:cNvSpPr/>
          <p:nvPr/>
        </p:nvSpPr>
        <p:spPr>
          <a:xfrm>
            <a:off x="3657600" y="3959352"/>
            <a:ext cx="457200" cy="365760"/>
          </a:xfrm>
          <a:prstGeom prst="roundRect">
            <a:avLst>
              <a:gd name="adj" fmla="val 15000"/>
            </a:avLst>
          </a:prstGeom>
          <a:solidFill>
            <a:srgbClr val="34D399"/>
          </a:solidFill>
          <a:ln w="6350">
            <a:solidFill>
              <a:srgbClr val="34D399"/>
            </a:solidFill>
            <a:prstDash val="solid"/>
          </a:ln>
        </p:spPr>
      </p:sp>
      <p:sp>
        <p:nvSpPr>
          <p:cNvPr id="118" name="Text 115"/>
          <p:cNvSpPr txBox="1"/>
          <p:nvPr/>
        </p:nvSpPr>
        <p:spPr>
          <a:xfrm>
            <a:off x="365760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27</a:t>
            </a:r>
            <a:endParaRPr lang="en-US" sz="1400" dirty="0"/>
          </a:p>
        </p:txBody>
      </p:sp>
      <p:sp>
        <p:nvSpPr>
          <p:cNvPr id="119" name="Shape 116"/>
          <p:cNvSpPr/>
          <p:nvPr/>
        </p:nvSpPr>
        <p:spPr>
          <a:xfrm>
            <a:off x="4206240" y="3959352"/>
            <a:ext cx="457200" cy="365760"/>
          </a:xfrm>
          <a:prstGeom prst="roundRect">
            <a:avLst>
              <a:gd name="adj" fmla="val 15000"/>
            </a:avLst>
          </a:prstGeom>
          <a:solidFill>
            <a:srgbClr val="34D399"/>
          </a:solidFill>
          <a:ln w="6350">
            <a:solidFill>
              <a:srgbClr val="34D399"/>
            </a:solidFill>
            <a:prstDash val="solid"/>
          </a:ln>
        </p:spPr>
      </p:sp>
      <p:sp>
        <p:nvSpPr>
          <p:cNvPr id="120" name="Text 117"/>
          <p:cNvSpPr txBox="1"/>
          <p:nvPr/>
        </p:nvSpPr>
        <p:spPr>
          <a:xfrm>
            <a:off x="420624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38</a:t>
            </a:r>
            <a:endParaRPr lang="en-US" sz="1400" dirty="0"/>
          </a:p>
        </p:txBody>
      </p:sp>
      <p:sp>
        <p:nvSpPr>
          <p:cNvPr id="121" name="Shape 118"/>
          <p:cNvSpPr/>
          <p:nvPr/>
        </p:nvSpPr>
        <p:spPr>
          <a:xfrm>
            <a:off x="4754880" y="3959352"/>
            <a:ext cx="457200" cy="365760"/>
          </a:xfrm>
          <a:prstGeom prst="roundRect">
            <a:avLst>
              <a:gd name="adj" fmla="val 15000"/>
            </a:avLst>
          </a:prstGeom>
          <a:solidFill>
            <a:srgbClr val="34D399"/>
          </a:solidFill>
          <a:ln w="6350">
            <a:solidFill>
              <a:srgbClr val="34D399"/>
            </a:solidFill>
            <a:prstDash val="solid"/>
          </a:ln>
        </p:spPr>
      </p:sp>
      <p:sp>
        <p:nvSpPr>
          <p:cNvPr id="122" name="Text 119"/>
          <p:cNvSpPr txBox="1"/>
          <p:nvPr/>
        </p:nvSpPr>
        <p:spPr>
          <a:xfrm>
            <a:off x="475488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43</a:t>
            </a:r>
            <a:endParaRPr lang="en-US" sz="1400" dirty="0"/>
          </a:p>
        </p:txBody>
      </p:sp>
      <p:sp>
        <p:nvSpPr>
          <p:cNvPr id="123" name="Shape 120"/>
          <p:cNvSpPr/>
          <p:nvPr/>
        </p:nvSpPr>
        <p:spPr>
          <a:xfrm>
            <a:off x="5303520" y="3959352"/>
            <a:ext cx="457200" cy="365760"/>
          </a:xfrm>
          <a:prstGeom prst="roundRect">
            <a:avLst>
              <a:gd name="adj" fmla="val 15000"/>
            </a:avLst>
          </a:prstGeom>
          <a:solidFill>
            <a:srgbClr val="34D399"/>
          </a:solidFill>
          <a:ln w="6350">
            <a:solidFill>
              <a:srgbClr val="34D399"/>
            </a:solidFill>
            <a:prstDash val="solid"/>
          </a:ln>
        </p:spPr>
      </p:sp>
      <p:sp>
        <p:nvSpPr>
          <p:cNvPr id="124" name="Text 121"/>
          <p:cNvSpPr txBox="1"/>
          <p:nvPr/>
        </p:nvSpPr>
        <p:spPr>
          <a:xfrm>
            <a:off x="5303520" y="3959352"/>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82</a:t>
            </a:r>
            <a:endParaRPr lang="en-US" sz="1400" dirty="0"/>
          </a:p>
        </p:txBody>
      </p:sp>
      <p:sp>
        <p:nvSpPr>
          <p:cNvPr id="125" name="Text 122"/>
          <p:cNvSpPr txBox="1"/>
          <p:nvPr/>
        </p:nvSpPr>
        <p:spPr>
          <a:xfrm>
            <a:off x="457200" y="1188720"/>
            <a:ext cx="128016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DIVIDE</a:t>
            </a:r>
            <a:endParaRPr lang="en-US" sz="1400" dirty="0"/>
          </a:p>
        </p:txBody>
      </p:sp>
      <p:sp>
        <p:nvSpPr>
          <p:cNvPr id="126" name="Shape 123"/>
          <p:cNvSpPr/>
          <p:nvPr/>
        </p:nvSpPr>
        <p:spPr>
          <a:xfrm>
            <a:off x="1005840" y="1508760"/>
            <a:ext cx="0" cy="1325880"/>
          </a:xfrm>
          <a:prstGeom prst="line">
            <a:avLst/>
          </a:prstGeom>
          <a:noFill/>
          <a:ln w="25400">
            <a:solidFill>
              <a:srgbClr val="22D3EE"/>
            </a:solidFill>
            <a:prstDash val="solid"/>
            <a:tailEnd type="triangle"/>
          </a:ln>
        </p:spPr>
      </p:sp>
      <p:sp>
        <p:nvSpPr>
          <p:cNvPr id="127" name="Text 124"/>
          <p:cNvSpPr txBox="1"/>
          <p:nvPr/>
        </p:nvSpPr>
        <p:spPr>
          <a:xfrm>
            <a:off x="457200" y="3246120"/>
            <a:ext cx="1280160" cy="274320"/>
          </a:xfrm>
          <a:prstGeom prst="rect">
            <a:avLst/>
          </a:prstGeom>
          <a:noFill/>
          <a:ln/>
        </p:spPr>
        <p:txBody>
          <a:bodyPr wrap="square" lIns="0" tIns="0" rIns="0" bIns="0" rtlCol="0" anchor="t"/>
          <a:lstStyle/>
          <a:p>
            <a:pPr marL="0" indent="0">
              <a:buNone/>
            </a:pPr>
            <a:r>
              <a:rPr lang="en-US" sz="1400" b="1" dirty="0">
                <a:solidFill>
                  <a:srgbClr val="F472B6"/>
                </a:solidFill>
                <a:latin typeface="Calibri" pitchFamily="34" charset="0"/>
                <a:ea typeface="Calibri" pitchFamily="34" charset="-122"/>
                <a:cs typeface="Calibri" pitchFamily="34" charset="-120"/>
              </a:rPr>
              <a:t>MERGE</a:t>
            </a:r>
            <a:endParaRPr lang="en-US" sz="1400" dirty="0"/>
          </a:p>
        </p:txBody>
      </p:sp>
      <p:sp>
        <p:nvSpPr>
          <p:cNvPr id="128" name="Shape 125"/>
          <p:cNvSpPr/>
          <p:nvPr/>
        </p:nvSpPr>
        <p:spPr>
          <a:xfrm flipV="1">
            <a:off x="1005840" y="3611880"/>
            <a:ext cx="0" cy="640080"/>
          </a:xfrm>
          <a:prstGeom prst="line">
            <a:avLst/>
          </a:prstGeom>
          <a:noFill/>
          <a:ln w="25400">
            <a:solidFill>
              <a:srgbClr val="F472B6"/>
            </a:solidFill>
            <a:prstDash val="solid"/>
            <a:tailEnd type="triangle"/>
          </a:ln>
        </p:spPr>
      </p:sp>
      <p:sp>
        <p:nvSpPr>
          <p:cNvPr id="129" name="Shape 126"/>
          <p:cNvSpPr/>
          <p:nvPr/>
        </p:nvSpPr>
        <p:spPr>
          <a:xfrm>
            <a:off x="6583680" y="1051560"/>
            <a:ext cx="2103120" cy="3383280"/>
          </a:xfrm>
          <a:prstGeom prst="roundRect">
            <a:avLst>
              <a:gd name="adj" fmla="val 5217"/>
            </a:avLst>
          </a:prstGeom>
          <a:solidFill>
            <a:srgbClr val="16161F"/>
          </a:solidFill>
          <a:ln w="6350">
            <a:solidFill>
              <a:srgbClr val="16161F"/>
            </a:solidFill>
            <a:prstDash val="solid"/>
          </a:ln>
        </p:spPr>
      </p:sp>
      <p:sp>
        <p:nvSpPr>
          <p:cNvPr id="130" name="Text 127"/>
          <p:cNvSpPr txBox="1"/>
          <p:nvPr/>
        </p:nvSpPr>
        <p:spPr>
          <a:xfrm>
            <a:off x="6720840" y="1188720"/>
            <a:ext cx="18745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Split at mid = (left + right) / 2</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Stop when size = 1</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Merge sorted pairs upward</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All 7 elements kept in every row</a:t>
            </a:r>
            <a:endParaRPr lang="en-US" sz="1300" dirty="0"/>
          </a:p>
        </p:txBody>
      </p:sp>
      <p:sp>
        <p:nvSpPr>
          <p:cNvPr id="131" name="Text 128"/>
          <p:cNvSpPr txBox="1"/>
          <p:nvPr/>
        </p:nvSpPr>
        <p:spPr>
          <a:xfrm>
            <a:off x="6720840" y="3657600"/>
            <a:ext cx="1874520" cy="640080"/>
          </a:xfrm>
          <a:prstGeom prst="rect">
            <a:avLst/>
          </a:prstGeom>
          <a:noFill/>
          <a:ln/>
        </p:spPr>
        <p:txBody>
          <a:bodyPr wrap="square" lIns="0" tIns="0" rIns="0" bIns="0" rtlCol="0" anchor="t"/>
          <a:lstStyle/>
          <a:p>
            <a:pPr marL="0" indent="0">
              <a:buNone/>
            </a:pPr>
            <a:r>
              <a:rPr lang="en-US" sz="1300" b="1" dirty="0">
                <a:solidFill>
                  <a:srgbClr val="34D399"/>
                </a:solidFill>
                <a:latin typeface="Calibri" pitchFamily="34" charset="0"/>
                <a:ea typeface="Calibri" pitchFamily="34" charset="-122"/>
                <a:cs typeface="Calibri" pitchFamily="34" charset="-120"/>
              </a:rPr>
              <a:t>[3, 9, 10, 27, 38, 43, 82]</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Step-by-Step Merge Example</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5</a:t>
            </a:r>
            <a:endParaRPr lang="en-US" sz="1000" dirty="0"/>
          </a:p>
        </p:txBody>
      </p:sp>
      <p:sp>
        <p:nvSpPr>
          <p:cNvPr id="6" name="Text 3"/>
          <p:cNvSpPr txBox="1"/>
          <p:nvPr/>
        </p:nvSpPr>
        <p:spPr>
          <a:xfrm>
            <a:off x="457200" y="1097280"/>
            <a:ext cx="274320" cy="36576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L</a:t>
            </a:r>
            <a:endParaRPr lang="en-US" sz="1400" dirty="0"/>
          </a:p>
        </p:txBody>
      </p:sp>
      <p:sp>
        <p:nvSpPr>
          <p:cNvPr id="7" name="Shape 4"/>
          <p:cNvSpPr/>
          <p:nvPr/>
        </p:nvSpPr>
        <p:spPr>
          <a:xfrm>
            <a:off x="777240" y="1097280"/>
            <a:ext cx="457200" cy="365760"/>
          </a:xfrm>
          <a:prstGeom prst="roundRect">
            <a:avLst>
              <a:gd name="adj" fmla="val 15000"/>
            </a:avLst>
          </a:prstGeom>
          <a:solidFill>
            <a:srgbClr val="22D3EE"/>
          </a:solidFill>
          <a:ln w="6350">
            <a:solidFill>
              <a:srgbClr val="22D3EE"/>
            </a:solidFill>
            <a:prstDash val="solid"/>
          </a:ln>
        </p:spPr>
      </p:sp>
      <p:sp>
        <p:nvSpPr>
          <p:cNvPr id="8" name="Text 5"/>
          <p:cNvSpPr txBox="1"/>
          <p:nvPr/>
        </p:nvSpPr>
        <p:spPr>
          <a:xfrm>
            <a:off x="77724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9" name="Shape 6"/>
          <p:cNvSpPr/>
          <p:nvPr/>
        </p:nvSpPr>
        <p:spPr>
          <a:xfrm>
            <a:off x="1325880" y="1097280"/>
            <a:ext cx="457200" cy="365760"/>
          </a:xfrm>
          <a:prstGeom prst="roundRect">
            <a:avLst>
              <a:gd name="adj" fmla="val 15000"/>
            </a:avLst>
          </a:prstGeom>
          <a:solidFill>
            <a:srgbClr val="22D3EE"/>
          </a:solidFill>
          <a:ln w="6350">
            <a:solidFill>
              <a:srgbClr val="22D3EE"/>
            </a:solidFill>
            <a:prstDash val="solid"/>
          </a:ln>
        </p:spPr>
      </p:sp>
      <p:sp>
        <p:nvSpPr>
          <p:cNvPr id="10" name="Text 7"/>
          <p:cNvSpPr txBox="1"/>
          <p:nvPr/>
        </p:nvSpPr>
        <p:spPr>
          <a:xfrm>
            <a:off x="132588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27</a:t>
            </a:r>
            <a:endParaRPr lang="en-US" sz="1400" dirty="0"/>
          </a:p>
        </p:txBody>
      </p:sp>
      <p:sp>
        <p:nvSpPr>
          <p:cNvPr id="11" name="Shape 8"/>
          <p:cNvSpPr/>
          <p:nvPr/>
        </p:nvSpPr>
        <p:spPr>
          <a:xfrm>
            <a:off x="1874520" y="1097280"/>
            <a:ext cx="457200" cy="365760"/>
          </a:xfrm>
          <a:prstGeom prst="roundRect">
            <a:avLst>
              <a:gd name="adj" fmla="val 15000"/>
            </a:avLst>
          </a:prstGeom>
          <a:solidFill>
            <a:srgbClr val="22D3EE"/>
          </a:solidFill>
          <a:ln w="6350">
            <a:solidFill>
              <a:srgbClr val="22D3EE"/>
            </a:solidFill>
            <a:prstDash val="solid"/>
          </a:ln>
        </p:spPr>
      </p:sp>
      <p:sp>
        <p:nvSpPr>
          <p:cNvPr id="12" name="Text 9"/>
          <p:cNvSpPr txBox="1"/>
          <p:nvPr/>
        </p:nvSpPr>
        <p:spPr>
          <a:xfrm>
            <a:off x="187452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38</a:t>
            </a:r>
            <a:endParaRPr lang="en-US" sz="1400" dirty="0"/>
          </a:p>
        </p:txBody>
      </p:sp>
      <p:sp>
        <p:nvSpPr>
          <p:cNvPr id="13" name="Shape 10"/>
          <p:cNvSpPr/>
          <p:nvPr/>
        </p:nvSpPr>
        <p:spPr>
          <a:xfrm>
            <a:off x="2423160" y="1097280"/>
            <a:ext cx="457200" cy="365760"/>
          </a:xfrm>
          <a:prstGeom prst="roundRect">
            <a:avLst>
              <a:gd name="adj" fmla="val 15000"/>
            </a:avLst>
          </a:prstGeom>
          <a:solidFill>
            <a:srgbClr val="22D3EE"/>
          </a:solidFill>
          <a:ln w="6350">
            <a:solidFill>
              <a:srgbClr val="22D3EE"/>
            </a:solidFill>
            <a:prstDash val="solid"/>
          </a:ln>
        </p:spPr>
      </p:sp>
      <p:sp>
        <p:nvSpPr>
          <p:cNvPr id="14" name="Text 11"/>
          <p:cNvSpPr txBox="1"/>
          <p:nvPr/>
        </p:nvSpPr>
        <p:spPr>
          <a:xfrm>
            <a:off x="242316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43</a:t>
            </a:r>
            <a:endParaRPr lang="en-US" sz="1400" dirty="0"/>
          </a:p>
        </p:txBody>
      </p:sp>
      <p:sp>
        <p:nvSpPr>
          <p:cNvPr id="15" name="Text 12"/>
          <p:cNvSpPr txBox="1"/>
          <p:nvPr/>
        </p:nvSpPr>
        <p:spPr>
          <a:xfrm>
            <a:off x="3566160" y="1097280"/>
            <a:ext cx="274320" cy="365760"/>
          </a:xfrm>
          <a:prstGeom prst="rect">
            <a:avLst/>
          </a:prstGeom>
          <a:noFill/>
          <a:ln/>
        </p:spPr>
        <p:txBody>
          <a:bodyPr wrap="square" lIns="0" tIns="0" rIns="0" bIns="0" rtlCol="0" anchor="ctr"/>
          <a:lstStyle/>
          <a:p>
            <a:pPr marL="0" indent="0">
              <a:buNone/>
            </a:pPr>
            <a:r>
              <a:rPr lang="en-US" sz="1400" b="1" dirty="0">
                <a:solidFill>
                  <a:srgbClr val="F472B6"/>
                </a:solidFill>
                <a:latin typeface="Calibri" pitchFamily="34" charset="0"/>
                <a:ea typeface="Calibri" pitchFamily="34" charset="-122"/>
                <a:cs typeface="Calibri" pitchFamily="34" charset="-120"/>
              </a:rPr>
              <a:t>R</a:t>
            </a:r>
            <a:endParaRPr lang="en-US" sz="1400" dirty="0"/>
          </a:p>
        </p:txBody>
      </p:sp>
      <p:sp>
        <p:nvSpPr>
          <p:cNvPr id="16" name="Shape 13"/>
          <p:cNvSpPr/>
          <p:nvPr/>
        </p:nvSpPr>
        <p:spPr>
          <a:xfrm>
            <a:off x="3886200" y="1097280"/>
            <a:ext cx="457200" cy="365760"/>
          </a:xfrm>
          <a:prstGeom prst="roundRect">
            <a:avLst>
              <a:gd name="adj" fmla="val 15000"/>
            </a:avLst>
          </a:prstGeom>
          <a:solidFill>
            <a:srgbClr val="F472B6"/>
          </a:solidFill>
          <a:ln w="6350">
            <a:solidFill>
              <a:srgbClr val="F472B6"/>
            </a:solidFill>
            <a:prstDash val="solid"/>
          </a:ln>
        </p:spPr>
      </p:sp>
      <p:sp>
        <p:nvSpPr>
          <p:cNvPr id="17" name="Text 14"/>
          <p:cNvSpPr txBox="1"/>
          <p:nvPr/>
        </p:nvSpPr>
        <p:spPr>
          <a:xfrm>
            <a:off x="388620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9</a:t>
            </a:r>
            <a:endParaRPr lang="en-US" sz="1400" dirty="0"/>
          </a:p>
        </p:txBody>
      </p:sp>
      <p:sp>
        <p:nvSpPr>
          <p:cNvPr id="18" name="Shape 15"/>
          <p:cNvSpPr/>
          <p:nvPr/>
        </p:nvSpPr>
        <p:spPr>
          <a:xfrm>
            <a:off x="4434840" y="1097280"/>
            <a:ext cx="457200" cy="365760"/>
          </a:xfrm>
          <a:prstGeom prst="roundRect">
            <a:avLst>
              <a:gd name="adj" fmla="val 15000"/>
            </a:avLst>
          </a:prstGeom>
          <a:solidFill>
            <a:srgbClr val="F472B6"/>
          </a:solidFill>
          <a:ln w="6350">
            <a:solidFill>
              <a:srgbClr val="F472B6"/>
            </a:solidFill>
            <a:prstDash val="solid"/>
          </a:ln>
        </p:spPr>
      </p:sp>
      <p:sp>
        <p:nvSpPr>
          <p:cNvPr id="19" name="Text 16"/>
          <p:cNvSpPr txBox="1"/>
          <p:nvPr/>
        </p:nvSpPr>
        <p:spPr>
          <a:xfrm>
            <a:off x="443484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10</a:t>
            </a:r>
            <a:endParaRPr lang="en-US" sz="1400" dirty="0"/>
          </a:p>
        </p:txBody>
      </p:sp>
      <p:sp>
        <p:nvSpPr>
          <p:cNvPr id="20" name="Shape 17"/>
          <p:cNvSpPr/>
          <p:nvPr/>
        </p:nvSpPr>
        <p:spPr>
          <a:xfrm>
            <a:off x="4983480" y="1097280"/>
            <a:ext cx="457200" cy="365760"/>
          </a:xfrm>
          <a:prstGeom prst="roundRect">
            <a:avLst>
              <a:gd name="adj" fmla="val 15000"/>
            </a:avLst>
          </a:prstGeom>
          <a:solidFill>
            <a:srgbClr val="F472B6"/>
          </a:solidFill>
          <a:ln w="6350">
            <a:solidFill>
              <a:srgbClr val="F472B6"/>
            </a:solidFill>
            <a:prstDash val="solid"/>
          </a:ln>
        </p:spPr>
      </p:sp>
      <p:sp>
        <p:nvSpPr>
          <p:cNvPr id="21" name="Text 18"/>
          <p:cNvSpPr txBox="1"/>
          <p:nvPr/>
        </p:nvSpPr>
        <p:spPr>
          <a:xfrm>
            <a:off x="4983480" y="1097280"/>
            <a:ext cx="45720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82</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85216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29184">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Compare L[i] vs R[j]</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Pick</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Output A</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3 vs 9</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1"/>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27 vs 9</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2"/>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27 vs 10</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 10]</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3"/>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27 vs 82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 10, 27]</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4"/>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38 vs 82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 10, 27, 38]</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5"/>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43 vs 82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FBBF24"/>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 10, 27, 38, 43]</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6"/>
                  </a:ext>
                </a:extLst>
              </a:tr>
              <a:tr h="329184">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L is empty</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b="1" dirty="0">
                          <a:solidFill>
                            <a:srgbClr val="34D399"/>
                          </a:solidFill>
                          <a:latin typeface="Calibri" pitchFamily="34" charset="0"/>
                          <a:ea typeface="Calibri" pitchFamily="34" charset="-122"/>
                          <a:cs typeface="Calibri" pitchFamily="34" charset="-120"/>
                        </a:rPr>
                        <a:t>copy 82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[3, 9, 10, 27, 38, 43, 82]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7"/>
                  </a:ext>
                </a:extLst>
              </a:tr>
            </a:tbl>
          </a:graphicData>
        </a:graphic>
      </p:graphicFrame>
      <p:sp>
        <p:nvSpPr>
          <p:cNvPr id="23" name="Shape 19"/>
          <p:cNvSpPr/>
          <p:nvPr/>
        </p:nvSpPr>
        <p:spPr>
          <a:xfrm>
            <a:off x="6583680" y="1097280"/>
            <a:ext cx="2103120" cy="3429000"/>
          </a:xfrm>
          <a:prstGeom prst="roundRect">
            <a:avLst>
              <a:gd name="adj" fmla="val 5217"/>
            </a:avLst>
          </a:prstGeom>
          <a:solidFill>
            <a:srgbClr val="16161F"/>
          </a:solidFill>
          <a:ln w="15875">
            <a:solidFill>
              <a:srgbClr val="F472B6"/>
            </a:solidFill>
            <a:prstDash val="solid"/>
          </a:ln>
        </p:spPr>
      </p:sp>
      <p:sp>
        <p:nvSpPr>
          <p:cNvPr id="24" name="Text 20"/>
          <p:cNvSpPr txBox="1"/>
          <p:nvPr/>
        </p:nvSpPr>
        <p:spPr>
          <a:xfrm>
            <a:off x="6766560" y="1234440"/>
            <a:ext cx="1828800" cy="320040"/>
          </a:xfrm>
          <a:prstGeom prst="rect">
            <a:avLst/>
          </a:prstGeom>
          <a:noFill/>
          <a:ln/>
        </p:spPr>
        <p:txBody>
          <a:bodyPr wrap="square" lIns="0" tIns="0" rIns="0" bIns="0" rtlCol="0" anchor="t"/>
          <a:lstStyle/>
          <a:p>
            <a:pPr marL="0" indent="0">
              <a:buNone/>
            </a:pPr>
            <a:r>
              <a:rPr lang="en-US" sz="1800" b="1" dirty="0">
                <a:solidFill>
                  <a:srgbClr val="F472B6"/>
                </a:solidFill>
                <a:latin typeface="Cambria" pitchFamily="34" charset="0"/>
                <a:ea typeface="Cambria" pitchFamily="34" charset="-122"/>
                <a:cs typeface="Cambria" pitchFamily="34" charset="-120"/>
              </a:rPr>
              <a:t>Rule</a:t>
            </a:r>
            <a:endParaRPr lang="en-US" sz="1800" dirty="0"/>
          </a:p>
        </p:txBody>
      </p:sp>
      <p:sp>
        <p:nvSpPr>
          <p:cNvPr id="25" name="Text 21"/>
          <p:cNvSpPr txBox="1"/>
          <p:nvPr/>
        </p:nvSpPr>
        <p:spPr>
          <a:xfrm>
            <a:off x="6766560" y="1645920"/>
            <a:ext cx="1828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Compare the front of each list</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Pick the smaller (ties: take L)</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Move that pointer forward</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Copy leftovers at the end</a:t>
            </a:r>
            <a:endParaRPr lang="en-US" sz="1300" dirty="0"/>
          </a:p>
          <a:p>
            <a:pPr marL="342900" indent="-342900">
              <a:spcAft>
                <a:spcPts val="600"/>
              </a:spcAft>
              <a:buSzPct val="100000"/>
              <a:buChar char="•"/>
            </a:pPr>
            <a:r>
              <a:rPr lang="en-US" sz="1300" dirty="0">
                <a:solidFill>
                  <a:srgbClr val="B4B4C6"/>
                </a:solidFill>
                <a:latin typeface="Calibri" pitchFamily="34" charset="0"/>
                <a:ea typeface="Calibri" pitchFamily="34" charset="-122"/>
                <a:cs typeface="Calibri" pitchFamily="34" charset="-120"/>
              </a:rPr>
              <a:t>Cost: at most n - 1 comparisons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Algorithm and Pseudocode</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457200" y="1051560"/>
            <a:ext cx="3749040" cy="1600200"/>
          </a:xfrm>
          <a:prstGeom prst="roundRect">
            <a:avLst>
              <a:gd name="adj" fmla="val 6857"/>
            </a:avLst>
          </a:prstGeom>
          <a:solidFill>
            <a:srgbClr val="000000"/>
          </a:solidFill>
          <a:ln w="15875">
            <a:solidFill>
              <a:srgbClr val="22D3EE"/>
            </a:solidFill>
            <a:prstDash val="solid"/>
          </a:ln>
        </p:spPr>
      </p:sp>
      <p:sp>
        <p:nvSpPr>
          <p:cNvPr id="7" name="Text 4"/>
          <p:cNvSpPr txBox="1"/>
          <p:nvPr/>
        </p:nvSpPr>
        <p:spPr>
          <a:xfrm>
            <a:off x="640080" y="1188720"/>
            <a:ext cx="3474720" cy="1325880"/>
          </a:xfrm>
          <a:prstGeom prst="rect">
            <a:avLst/>
          </a:prstGeom>
          <a:noFill/>
          <a:ln/>
        </p:spPr>
        <p:txBody>
          <a:bodyPr wrap="square" lIns="0" tIns="0" rIns="0" bIns="0" rtlCol="0" anchor="t"/>
          <a:lstStyle/>
          <a:p>
            <a:pPr marL="0" indent="0">
              <a:buNone/>
            </a:pPr>
            <a:r>
              <a:rPr lang="en-US" sz="1100" dirty="0">
                <a:solidFill>
                  <a:srgbClr val="DCE6FF"/>
                </a:solidFill>
                <a:latin typeface="Courier New" pitchFamily="34" charset="0"/>
                <a:ea typeface="Courier New" pitchFamily="34" charset="-122"/>
                <a:cs typeface="Courier New" pitchFamily="34" charset="-120"/>
              </a:rPr>
              <a:t>MERGE-SORT(A, left, right)</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if left &lt; right then</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mid = floor((left + right) / 2)</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MERGE-SORT(A, left, mid)</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MERGE-SORT(A, mid + 1, right)</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MERGE(A, left, mid, right)</a:t>
            </a:r>
            <a:endParaRPr lang="en-US" sz="1100" dirty="0"/>
          </a:p>
        </p:txBody>
      </p:sp>
      <p:sp>
        <p:nvSpPr>
          <p:cNvPr id="8" name="Shape 5"/>
          <p:cNvSpPr/>
          <p:nvPr/>
        </p:nvSpPr>
        <p:spPr>
          <a:xfrm>
            <a:off x="4389120" y="1051560"/>
            <a:ext cx="4297680" cy="2651760"/>
          </a:xfrm>
          <a:prstGeom prst="roundRect">
            <a:avLst>
              <a:gd name="adj" fmla="val 4138"/>
            </a:avLst>
          </a:prstGeom>
          <a:solidFill>
            <a:srgbClr val="000000"/>
          </a:solidFill>
          <a:ln w="15875">
            <a:solidFill>
              <a:srgbClr val="22D3EE"/>
            </a:solidFill>
            <a:prstDash val="solid"/>
          </a:ln>
        </p:spPr>
      </p:sp>
      <p:sp>
        <p:nvSpPr>
          <p:cNvPr id="9" name="Text 6"/>
          <p:cNvSpPr txBox="1"/>
          <p:nvPr/>
        </p:nvSpPr>
        <p:spPr>
          <a:xfrm>
            <a:off x="4572000" y="1188720"/>
            <a:ext cx="4023360" cy="2377440"/>
          </a:xfrm>
          <a:prstGeom prst="rect">
            <a:avLst/>
          </a:prstGeom>
          <a:noFill/>
          <a:ln/>
        </p:spPr>
        <p:txBody>
          <a:bodyPr wrap="square" lIns="0" tIns="0" rIns="0" bIns="0" rtlCol="0" anchor="t"/>
          <a:lstStyle/>
          <a:p>
            <a:pPr marL="0" indent="0">
              <a:buNone/>
            </a:pPr>
            <a:r>
              <a:rPr lang="en-US" sz="1100" dirty="0">
                <a:solidFill>
                  <a:srgbClr val="DCE6FF"/>
                </a:solidFill>
                <a:latin typeface="Courier New" pitchFamily="34" charset="0"/>
                <a:ea typeface="Courier New" pitchFamily="34" charset="-122"/>
                <a:cs typeface="Courier New" pitchFamily="34" charset="-120"/>
              </a:rPr>
              <a:t>MERGE(A, left, mid, right)</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L = copy of A[left..mid]</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R = copy of A[mid+1..right]</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i = 0; j = 0; k = left</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while i &lt; |L| and j &lt; |R|</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if L[i] &lt;= R[j] then</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A[k] = L[i]; i = i + 1</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else A[k] = R[j]; j = j + 1</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k = k + 1</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while i &lt; |L|: A[k++] = L[i++]</a:t>
            </a:r>
            <a:endParaRPr lang="en-US" sz="1100" dirty="0"/>
          </a:p>
          <a:p>
            <a:pPr marL="0" indent="0">
              <a:buNone/>
            </a:pPr>
            <a:r>
              <a:rPr lang="en-US" sz="1100" dirty="0">
                <a:solidFill>
                  <a:srgbClr val="DCE6FF"/>
                </a:solidFill>
                <a:latin typeface="Courier New" pitchFamily="34" charset="0"/>
                <a:ea typeface="Courier New" pitchFamily="34" charset="-122"/>
                <a:cs typeface="Courier New" pitchFamily="34" charset="-120"/>
              </a:rPr>
              <a:t>  while j &lt; |R|: A[k++] = R[j++]</a:t>
            </a:r>
            <a:endParaRPr lang="en-US" sz="1100" dirty="0"/>
          </a:p>
        </p:txBody>
      </p:sp>
      <p:sp>
        <p:nvSpPr>
          <p:cNvPr id="10" name="Shape 7"/>
          <p:cNvSpPr/>
          <p:nvPr/>
        </p:nvSpPr>
        <p:spPr>
          <a:xfrm>
            <a:off x="457200" y="2834640"/>
            <a:ext cx="3749040" cy="1691640"/>
          </a:xfrm>
          <a:prstGeom prst="roundRect">
            <a:avLst>
              <a:gd name="adj" fmla="val 6486"/>
            </a:avLst>
          </a:prstGeom>
          <a:solidFill>
            <a:srgbClr val="16161F"/>
          </a:solidFill>
          <a:ln w="6350">
            <a:solidFill>
              <a:srgbClr val="16161F"/>
            </a:solidFill>
            <a:prstDash val="solid"/>
          </a:ln>
        </p:spPr>
      </p:sp>
      <p:sp>
        <p:nvSpPr>
          <p:cNvPr id="11" name="Text 8"/>
          <p:cNvSpPr txBox="1"/>
          <p:nvPr/>
        </p:nvSpPr>
        <p:spPr>
          <a:xfrm>
            <a:off x="640080" y="2926080"/>
            <a:ext cx="3383280" cy="274320"/>
          </a:xfrm>
          <a:prstGeom prst="rect">
            <a:avLst/>
          </a:prstGeom>
          <a:noFill/>
          <a:ln/>
        </p:spPr>
        <p:txBody>
          <a:bodyPr wrap="square" lIns="0" tIns="0" rIns="0" bIns="0" rtlCol="0" anchor="t"/>
          <a:lstStyle/>
          <a:p>
            <a:pPr marL="0" indent="0">
              <a:buNone/>
            </a:pPr>
            <a:r>
              <a:rPr lang="en-US" sz="1600" b="1" dirty="0">
                <a:solidFill>
                  <a:srgbClr val="FBBF24"/>
                </a:solidFill>
                <a:latin typeface="Cambria" pitchFamily="34" charset="0"/>
                <a:ea typeface="Cambria" pitchFamily="34" charset="-122"/>
                <a:cs typeface="Cambria" pitchFamily="34" charset="-120"/>
              </a:rPr>
              <a:t>Base case</a:t>
            </a:r>
            <a:endParaRPr lang="en-US" sz="1600" dirty="0"/>
          </a:p>
        </p:txBody>
      </p:sp>
      <p:sp>
        <p:nvSpPr>
          <p:cNvPr id="12" name="Text 9"/>
          <p:cNvSpPr txBox="1"/>
          <p:nvPr/>
        </p:nvSpPr>
        <p:spPr>
          <a:xfrm>
            <a:off x="640080" y="3246120"/>
            <a:ext cx="34747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4B4C6"/>
                </a:solidFill>
                <a:latin typeface="Calibri" pitchFamily="34" charset="0"/>
                <a:ea typeface="Calibri" pitchFamily="34" charset="-122"/>
                <a:cs typeface="Calibri" pitchFamily="34" charset="-120"/>
              </a:rPr>
              <a:t>left &gt;= right: 0 or 1 element, so already sorted</a:t>
            </a:r>
            <a:endParaRPr lang="en-US" sz="1200" dirty="0"/>
          </a:p>
          <a:p>
            <a:pPr marL="342900" indent="-342900">
              <a:spcAft>
                <a:spcPts val="600"/>
              </a:spcAft>
              <a:buSzPct val="100000"/>
              <a:buChar char="•"/>
            </a:pPr>
            <a:r>
              <a:rPr lang="en-US" sz="1200" dirty="0">
                <a:solidFill>
                  <a:srgbClr val="B4B4C6"/>
                </a:solidFill>
                <a:latin typeface="Calibri" pitchFamily="34" charset="0"/>
                <a:ea typeface="Calibri" pitchFamily="34" charset="-122"/>
                <a:cs typeface="Calibri" pitchFamily="34" charset="-120"/>
              </a:rPr>
              <a:t>Otherwise: 2 recursive calls, then MERGE</a:t>
            </a:r>
            <a:endParaRPr lang="en-US" sz="1200" dirty="0"/>
          </a:p>
          <a:p>
            <a:pPr marL="342900" indent="-342900">
              <a:spcAft>
                <a:spcPts val="600"/>
              </a:spcAft>
              <a:buSzPct val="100000"/>
              <a:buChar char="•"/>
            </a:pPr>
            <a:r>
              <a:rPr lang="en-US" sz="1200" dirty="0">
                <a:solidFill>
                  <a:srgbClr val="B4B4C6"/>
                </a:solidFill>
                <a:latin typeface="Calibri" pitchFamily="34" charset="0"/>
                <a:ea typeface="Calibri" pitchFamily="34" charset="-122"/>
                <a:cs typeface="Calibri" pitchFamily="34" charset="-120"/>
              </a:rPr>
              <a:t>Call: MERGE-SORT(A, 0, n - 1)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Time and Space Complexity</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07070C"/>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F472B6"/>
                    </a:solidFill>
                  </a:tcPr>
                </a:tc>
                <a:tc>
                  <a:txBody>
                    <a:bodyPr/>
                    <a:lstStyle/>
                    <a:p>
                      <a:pPr marL="0" indent="0">
                        <a:buNone/>
                      </a:pPr>
                      <a:r>
                        <a:rPr lang="en-US" sz="1400" b="1" dirty="0">
                          <a:solidFill>
                            <a:srgbClr val="07070C"/>
                          </a:solidFill>
                          <a:latin typeface="Calibri" pitchFamily="34" charset="0"/>
                          <a:ea typeface="Calibri" pitchFamily="34" charset="-122"/>
                          <a:cs typeface="Calibri" pitchFamily="34" charset="-120"/>
                        </a:rPr>
                        <a:t>Complexity</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F472B6"/>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FFFFFF"/>
                          </a:solidFill>
                          <a:latin typeface="Calibri" pitchFamily="34" charset="0"/>
                          <a:ea typeface="Calibri" pitchFamily="34" charset="-122"/>
                          <a:cs typeface="Calibri" pitchFamily="34" charset="-120"/>
                        </a:rPr>
                        <a:t>Best-case time</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buNone/>
                      </a:pPr>
                      <a:r>
                        <a:rPr lang="en-US" sz="1400" b="1" dirty="0">
                          <a:solidFill>
                            <a:srgbClr val="34D399"/>
                          </a:solidFill>
                          <a:latin typeface="Calibri" pitchFamily="34" charset="0"/>
                          <a:ea typeface="Calibri" pitchFamily="34" charset="-122"/>
                          <a:cs typeface="Calibri" pitchFamily="34" charset="-120"/>
                        </a:rPr>
                        <a:t>O(n log n)</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FFFFFF"/>
                          </a:solidFill>
                          <a:latin typeface="Calibri" pitchFamily="34" charset="0"/>
                          <a:ea typeface="Calibri" pitchFamily="34" charset="-122"/>
                          <a:cs typeface="Calibri" pitchFamily="34" charset="-120"/>
                        </a:rPr>
                        <a:t>Average-case time</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buNone/>
                      </a:pPr>
                      <a:r>
                        <a:rPr lang="en-US" sz="1400" b="1" dirty="0">
                          <a:solidFill>
                            <a:srgbClr val="34D399"/>
                          </a:solidFill>
                          <a:latin typeface="Calibri" pitchFamily="34" charset="0"/>
                          <a:ea typeface="Calibri" pitchFamily="34" charset="-122"/>
                          <a:cs typeface="Calibri" pitchFamily="34" charset="-120"/>
                        </a:rPr>
                        <a:t>O(n log n)</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FFFFFF"/>
                          </a:solidFill>
                          <a:latin typeface="Calibri" pitchFamily="34" charset="0"/>
                          <a:ea typeface="Calibri" pitchFamily="34" charset="-122"/>
                          <a:cs typeface="Calibri" pitchFamily="34" charset="-120"/>
                        </a:rPr>
                        <a:t>Worst-case time</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buNone/>
                      </a:pPr>
                      <a:r>
                        <a:rPr lang="en-US" sz="1400" b="1" dirty="0">
                          <a:solidFill>
                            <a:srgbClr val="34D399"/>
                          </a:solidFill>
                          <a:latin typeface="Calibri" pitchFamily="34" charset="0"/>
                          <a:ea typeface="Calibri" pitchFamily="34" charset="-122"/>
                          <a:cs typeface="Calibri" pitchFamily="34" charset="-120"/>
                        </a:rPr>
                        <a:t>O(n log n)</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FFFFFF"/>
                          </a:solidFill>
                          <a:latin typeface="Calibri" pitchFamily="34" charset="0"/>
                          <a:ea typeface="Calibri" pitchFamily="34" charset="-122"/>
                          <a:cs typeface="Calibri" pitchFamily="34" charset="-120"/>
                        </a:rPr>
                        <a:t>Auxiliary space</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O(n)</a:t>
                      </a:r>
                      <a:endParaRPr lang="en-US" sz="14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457200" y="3611880"/>
            <a:ext cx="4206240" cy="457200"/>
          </a:xfrm>
          <a:prstGeom prst="rect">
            <a:avLst/>
          </a:prstGeom>
          <a:noFill/>
          <a:ln/>
        </p:spPr>
        <p:txBody>
          <a:bodyPr wrap="square" lIns="0" tIns="0" rIns="0" bIns="0" rtlCol="0" anchor="t"/>
          <a:lstStyle/>
          <a:p>
            <a:pPr marL="0" indent="0">
              <a:buNone/>
            </a:pPr>
            <a:r>
              <a:rPr lang="en-US" sz="1200" dirty="0">
                <a:solidFill>
                  <a:srgbClr val="B4B4C6"/>
                </a:solidFill>
                <a:latin typeface="Calibri" pitchFamily="34" charset="0"/>
                <a:ea typeface="Calibri" pitchFamily="34" charset="-122"/>
                <a:cs typeface="Calibri" pitchFamily="34" charset="-120"/>
              </a:rPr>
              <a:t>Space is O(n) for the standard array-based version.</a:t>
            </a:r>
            <a:endParaRPr lang="en-US" sz="1200" dirty="0"/>
          </a:p>
        </p:txBody>
      </p:sp>
      <p:sp>
        <p:nvSpPr>
          <p:cNvPr id="5" name="Shape 4"/>
          <p:cNvSpPr/>
          <p:nvPr/>
        </p:nvSpPr>
        <p:spPr>
          <a:xfrm>
            <a:off x="5029200" y="1188720"/>
            <a:ext cx="3657600" cy="3337560"/>
          </a:xfrm>
          <a:prstGeom prst="roundRect">
            <a:avLst>
              <a:gd name="adj" fmla="val 3288"/>
            </a:avLst>
          </a:prstGeom>
          <a:solidFill>
            <a:srgbClr val="16161F"/>
          </a:solidFill>
          <a:ln w="15875">
            <a:solidFill>
              <a:srgbClr val="22D3EE"/>
            </a:solidFill>
            <a:prstDash val="solid"/>
          </a:ln>
        </p:spPr>
      </p:sp>
      <p:sp>
        <p:nvSpPr>
          <p:cNvPr id="9" name="Text 5"/>
          <p:cNvSpPr txBox="1"/>
          <p:nvPr/>
        </p:nvSpPr>
        <p:spPr>
          <a:xfrm>
            <a:off x="5257800" y="1325880"/>
            <a:ext cx="3200400" cy="320040"/>
          </a:xfrm>
          <a:prstGeom prst="rect">
            <a:avLst/>
          </a:prstGeom>
          <a:noFill/>
          <a:ln/>
        </p:spPr>
        <p:txBody>
          <a:bodyPr wrap="square" lIns="0" tIns="0" rIns="0" bIns="0" rtlCol="0" anchor="t"/>
          <a:lstStyle/>
          <a:p>
            <a:pPr marL="0" indent="0">
              <a:buNone/>
            </a:pPr>
            <a:r>
              <a:rPr lang="en-US" sz="1800" b="1" dirty="0">
                <a:solidFill>
                  <a:srgbClr val="22D3EE"/>
                </a:solidFill>
                <a:latin typeface="Cambria" pitchFamily="34" charset="0"/>
                <a:ea typeface="Cambria" pitchFamily="34" charset="-122"/>
                <a:cs typeface="Cambria" pitchFamily="34" charset="-120"/>
              </a:rPr>
              <a:t>Recurrence</a:t>
            </a:r>
            <a:endParaRPr lang="en-US" sz="1800" dirty="0"/>
          </a:p>
        </p:txBody>
      </p:sp>
      <p:sp>
        <p:nvSpPr>
          <p:cNvPr id="10" name="Text 6"/>
          <p:cNvSpPr txBox="1"/>
          <p:nvPr/>
        </p:nvSpPr>
        <p:spPr>
          <a:xfrm>
            <a:off x="5257800" y="1737360"/>
            <a:ext cx="3200400" cy="365760"/>
          </a:xfrm>
          <a:prstGeom prst="rect">
            <a:avLst/>
          </a:prstGeom>
          <a:noFill/>
          <a:ln/>
        </p:spPr>
        <p:txBody>
          <a:bodyPr wrap="square" lIns="0" tIns="0" rIns="0" bIns="0" rtlCol="0" anchor="t"/>
          <a:lstStyle/>
          <a:p>
            <a:pPr marL="0" indent="0">
              <a:buNone/>
            </a:pPr>
            <a:r>
              <a:rPr lang="en-US" sz="1800" b="1" dirty="0">
                <a:solidFill>
                  <a:srgbClr val="FFFFFF"/>
                </a:solidFill>
                <a:latin typeface="Courier New" pitchFamily="34" charset="0"/>
                <a:ea typeface="Courier New" pitchFamily="34" charset="-122"/>
                <a:cs typeface="Courier New" pitchFamily="34" charset="-120"/>
              </a:rPr>
              <a:t>T(n) = 2T(n/2) + O(n)</a:t>
            </a:r>
            <a:endParaRPr lang="en-US" sz="1800" dirty="0"/>
          </a:p>
        </p:txBody>
      </p:sp>
      <p:sp>
        <p:nvSpPr>
          <p:cNvPr id="11" name="Text 7"/>
          <p:cNvSpPr txBox="1"/>
          <p:nvPr/>
        </p:nvSpPr>
        <p:spPr>
          <a:xfrm>
            <a:off x="5257800" y="2331720"/>
            <a:ext cx="32004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2 subproblems of size n/2</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Merge step costs O(n)</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log2(n) levels x O(n) per level</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So T(n) = O(n log 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Advantages and Limitations</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457200" y="1188720"/>
            <a:ext cx="3931920" cy="3337560"/>
          </a:xfrm>
          <a:prstGeom prst="roundRect">
            <a:avLst>
              <a:gd name="adj" fmla="val 3288"/>
            </a:avLst>
          </a:prstGeom>
          <a:solidFill>
            <a:srgbClr val="16161F"/>
          </a:solidFill>
          <a:ln w="15875">
            <a:solidFill>
              <a:srgbClr val="34D399"/>
            </a:solidFill>
            <a:prstDash val="solid"/>
          </a:ln>
        </p:spPr>
      </p:sp>
      <p:sp>
        <p:nvSpPr>
          <p:cNvPr id="7" name="Shape 4"/>
          <p:cNvSpPr/>
          <p:nvPr/>
        </p:nvSpPr>
        <p:spPr>
          <a:xfrm>
            <a:off x="685800" y="1371600"/>
            <a:ext cx="457200" cy="457200"/>
          </a:xfrm>
          <a:prstGeom prst="ellipse">
            <a:avLst/>
          </a:prstGeom>
          <a:solidFill>
            <a:srgbClr val="34D399"/>
          </a:solidFill>
          <a:ln w="6350">
            <a:solidFill>
              <a:srgbClr val="34D399"/>
            </a:solidFill>
            <a:prstDash val="solid"/>
          </a:ln>
        </p:spPr>
      </p:sp>
      <p:sp>
        <p:nvSpPr>
          <p:cNvPr id="8" name="Text 5"/>
          <p:cNvSpPr txBox="1"/>
          <p:nvPr/>
        </p:nvSpPr>
        <p:spPr>
          <a:xfrm>
            <a:off x="685800" y="1371600"/>
            <a:ext cx="457200" cy="457200"/>
          </a:xfrm>
          <a:prstGeom prst="rect">
            <a:avLst/>
          </a:prstGeom>
          <a:noFill/>
          <a:ln/>
        </p:spPr>
        <p:txBody>
          <a:bodyPr wrap="square" lIns="0" tIns="0" rIns="0" bIns="0" rtlCol="0" anchor="ctr"/>
          <a:lstStyle/>
          <a:p>
            <a:pPr marL="0" indent="0" algn="ctr">
              <a:buNone/>
            </a:pPr>
            <a:r>
              <a:rPr lang="en-US" sz="2000" b="1" dirty="0">
                <a:solidFill>
                  <a:srgbClr val="07070C"/>
                </a:solidFill>
                <a:latin typeface="Calibri" pitchFamily="34" charset="0"/>
                <a:ea typeface="Calibri" pitchFamily="34" charset="-122"/>
                <a:cs typeface="Calibri" pitchFamily="34" charset="-120"/>
              </a:rPr>
              <a:t>+</a:t>
            </a:r>
            <a:endParaRPr lang="en-US" sz="2000" dirty="0"/>
          </a:p>
        </p:txBody>
      </p:sp>
      <p:sp>
        <p:nvSpPr>
          <p:cNvPr id="9" name="Text 6"/>
          <p:cNvSpPr txBox="1"/>
          <p:nvPr/>
        </p:nvSpPr>
        <p:spPr>
          <a:xfrm>
            <a:off x="1325880" y="1371600"/>
            <a:ext cx="292608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Advantages</a:t>
            </a:r>
            <a:endParaRPr lang="en-US" sz="2200" dirty="0"/>
          </a:p>
        </p:txBody>
      </p:sp>
      <p:sp>
        <p:nvSpPr>
          <p:cNvPr id="10" name="Text 7"/>
          <p:cNvSpPr txBox="1"/>
          <p:nvPr/>
        </p:nvSpPr>
        <p:spPr>
          <a:xfrm>
            <a:off x="731520" y="2103120"/>
            <a:ext cx="3474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Predictable O(n log n) time</a:t>
            </a:r>
            <a:endParaRPr lang="en-US" sz="1500" dirty="0"/>
          </a:p>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Stable when implemented correctly</a:t>
            </a:r>
            <a:endParaRPr lang="en-US" sz="1500" dirty="0"/>
          </a:p>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Effective for large datasets and linked lists</a:t>
            </a:r>
            <a:endParaRPr lang="en-US" sz="1500" dirty="0"/>
          </a:p>
        </p:txBody>
      </p:sp>
      <p:sp>
        <p:nvSpPr>
          <p:cNvPr id="11" name="Shape 8"/>
          <p:cNvSpPr/>
          <p:nvPr/>
        </p:nvSpPr>
        <p:spPr>
          <a:xfrm>
            <a:off x="4754880" y="1188720"/>
            <a:ext cx="3931920" cy="3337560"/>
          </a:xfrm>
          <a:prstGeom prst="roundRect">
            <a:avLst>
              <a:gd name="adj" fmla="val 3288"/>
            </a:avLst>
          </a:prstGeom>
          <a:solidFill>
            <a:srgbClr val="16161F"/>
          </a:solidFill>
          <a:ln w="15875">
            <a:solidFill>
              <a:srgbClr val="FBBF24"/>
            </a:solidFill>
            <a:prstDash val="solid"/>
          </a:ln>
        </p:spPr>
      </p:sp>
      <p:sp>
        <p:nvSpPr>
          <p:cNvPr id="12" name="Shape 9"/>
          <p:cNvSpPr/>
          <p:nvPr/>
        </p:nvSpPr>
        <p:spPr>
          <a:xfrm>
            <a:off x="4983480" y="1371600"/>
            <a:ext cx="457200" cy="457200"/>
          </a:xfrm>
          <a:prstGeom prst="ellipse">
            <a:avLst/>
          </a:prstGeom>
          <a:solidFill>
            <a:srgbClr val="FBBF24"/>
          </a:solidFill>
          <a:ln w="6350">
            <a:solidFill>
              <a:srgbClr val="FBBF24"/>
            </a:solidFill>
            <a:prstDash val="solid"/>
          </a:ln>
        </p:spPr>
      </p:sp>
      <p:sp>
        <p:nvSpPr>
          <p:cNvPr id="13" name="Text 10"/>
          <p:cNvSpPr txBox="1"/>
          <p:nvPr/>
        </p:nvSpPr>
        <p:spPr>
          <a:xfrm>
            <a:off x="4983480" y="1371600"/>
            <a:ext cx="457200" cy="457200"/>
          </a:xfrm>
          <a:prstGeom prst="rect">
            <a:avLst/>
          </a:prstGeom>
          <a:noFill/>
          <a:ln/>
        </p:spPr>
        <p:txBody>
          <a:bodyPr wrap="square" lIns="0" tIns="0" rIns="0" bIns="0" rtlCol="0" anchor="ctr"/>
          <a:lstStyle/>
          <a:p>
            <a:pPr marL="0" indent="0" algn="ctr">
              <a:buNone/>
            </a:pPr>
            <a:r>
              <a:rPr lang="en-US" sz="2000" b="1" dirty="0">
                <a:solidFill>
                  <a:srgbClr val="07070C"/>
                </a:solidFill>
                <a:latin typeface="Calibri" pitchFamily="34" charset="0"/>
                <a:ea typeface="Calibri" pitchFamily="34" charset="-122"/>
                <a:cs typeface="Calibri" pitchFamily="34" charset="-120"/>
              </a:rPr>
              <a:t>-</a:t>
            </a:r>
            <a:endParaRPr lang="en-US" sz="2000" dirty="0"/>
          </a:p>
        </p:txBody>
      </p:sp>
      <p:sp>
        <p:nvSpPr>
          <p:cNvPr id="14" name="Text 11"/>
          <p:cNvSpPr txBox="1"/>
          <p:nvPr/>
        </p:nvSpPr>
        <p:spPr>
          <a:xfrm>
            <a:off x="5623560" y="1371600"/>
            <a:ext cx="292608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Limitations</a:t>
            </a:r>
            <a:endParaRPr lang="en-US" sz="2200" dirty="0"/>
          </a:p>
        </p:txBody>
      </p:sp>
      <p:sp>
        <p:nvSpPr>
          <p:cNvPr id="15" name="Text 12"/>
          <p:cNvSpPr txBox="1"/>
          <p:nvPr/>
        </p:nvSpPr>
        <p:spPr>
          <a:xfrm>
            <a:off x="5029200" y="2103120"/>
            <a:ext cx="3474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Standard array version needs extra memory</a:t>
            </a:r>
            <a:endParaRPr lang="en-US" sz="1500" dirty="0"/>
          </a:p>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Recursive calls add overhead</a:t>
            </a:r>
            <a:endParaRPr lang="en-US" sz="1500" dirty="0"/>
          </a:p>
          <a:p>
            <a:pPr marL="342900" indent="-342900">
              <a:spcAft>
                <a:spcPts val="600"/>
              </a:spcAft>
              <a:buSzPct val="100000"/>
              <a:buChar char="•"/>
            </a:pPr>
            <a:r>
              <a:rPr lang="en-US" sz="1500" dirty="0">
                <a:solidFill>
                  <a:srgbClr val="B4B4C6"/>
                </a:solidFill>
                <a:latin typeface="Calibri" pitchFamily="34" charset="0"/>
                <a:ea typeface="Calibri" pitchFamily="34" charset="-122"/>
                <a:cs typeface="Calibri" pitchFamily="34" charset="-120"/>
              </a:rPr>
              <a:t>Often not an in-place algorithm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Applications and Comparison</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457200" y="1188720"/>
            <a:ext cx="2926080" cy="731520"/>
          </a:xfrm>
          <a:prstGeom prst="roundRect">
            <a:avLst>
              <a:gd name="adj" fmla="val 15000"/>
            </a:avLst>
          </a:prstGeom>
          <a:solidFill>
            <a:srgbClr val="16161F"/>
          </a:solidFill>
          <a:ln w="6350">
            <a:solidFill>
              <a:srgbClr val="16161F"/>
            </a:solidFill>
            <a:prstDash val="solid"/>
          </a:ln>
        </p:spPr>
      </p:sp>
      <p:sp>
        <p:nvSpPr>
          <p:cNvPr id="7" name="Shape 4"/>
          <p:cNvSpPr/>
          <p:nvPr/>
        </p:nvSpPr>
        <p:spPr>
          <a:xfrm>
            <a:off x="594360" y="1371600"/>
            <a:ext cx="365760" cy="365760"/>
          </a:xfrm>
          <a:prstGeom prst="ellipse">
            <a:avLst/>
          </a:prstGeom>
          <a:solidFill>
            <a:srgbClr val="F472B6"/>
          </a:solidFill>
          <a:ln w="6350">
            <a:solidFill>
              <a:srgbClr val="F472B6"/>
            </a:solidFill>
            <a:prstDash val="solid"/>
          </a:ln>
        </p:spPr>
      </p:sp>
      <p:sp>
        <p:nvSpPr>
          <p:cNvPr id="8" name="Text 5"/>
          <p:cNvSpPr txBox="1"/>
          <p:nvPr/>
        </p:nvSpPr>
        <p:spPr>
          <a:xfrm>
            <a:off x="594360" y="1371600"/>
            <a:ext cx="36576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097280" y="1188720"/>
            <a:ext cx="219456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External sorting of large datasets</a:t>
            </a:r>
            <a:endParaRPr lang="en-US" sz="1400" dirty="0"/>
          </a:p>
        </p:txBody>
      </p:sp>
      <p:sp>
        <p:nvSpPr>
          <p:cNvPr id="10" name="Shape 7"/>
          <p:cNvSpPr/>
          <p:nvPr/>
        </p:nvSpPr>
        <p:spPr>
          <a:xfrm>
            <a:off x="457200" y="2103120"/>
            <a:ext cx="2926080" cy="731520"/>
          </a:xfrm>
          <a:prstGeom prst="roundRect">
            <a:avLst>
              <a:gd name="adj" fmla="val 15000"/>
            </a:avLst>
          </a:prstGeom>
          <a:solidFill>
            <a:srgbClr val="16161F"/>
          </a:solidFill>
          <a:ln w="6350">
            <a:solidFill>
              <a:srgbClr val="16161F"/>
            </a:solidFill>
            <a:prstDash val="solid"/>
          </a:ln>
        </p:spPr>
      </p:sp>
      <p:sp>
        <p:nvSpPr>
          <p:cNvPr id="11" name="Shape 8"/>
          <p:cNvSpPr/>
          <p:nvPr/>
        </p:nvSpPr>
        <p:spPr>
          <a:xfrm>
            <a:off x="594360" y="2286000"/>
            <a:ext cx="365760" cy="365760"/>
          </a:xfrm>
          <a:prstGeom prst="ellipse">
            <a:avLst/>
          </a:prstGeom>
          <a:solidFill>
            <a:srgbClr val="F472B6"/>
          </a:solidFill>
          <a:ln w="6350">
            <a:solidFill>
              <a:srgbClr val="F472B6"/>
            </a:solidFill>
            <a:prstDash val="solid"/>
          </a:ln>
        </p:spPr>
      </p:sp>
      <p:sp>
        <p:nvSpPr>
          <p:cNvPr id="12" name="Text 9"/>
          <p:cNvSpPr txBox="1"/>
          <p:nvPr/>
        </p:nvSpPr>
        <p:spPr>
          <a:xfrm>
            <a:off x="594360" y="2286000"/>
            <a:ext cx="36576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097280" y="2103120"/>
            <a:ext cx="219456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Linked-list sorting</a:t>
            </a:r>
            <a:endParaRPr lang="en-US" sz="1400" dirty="0"/>
          </a:p>
        </p:txBody>
      </p:sp>
      <p:sp>
        <p:nvSpPr>
          <p:cNvPr id="14" name="Shape 11"/>
          <p:cNvSpPr/>
          <p:nvPr/>
        </p:nvSpPr>
        <p:spPr>
          <a:xfrm>
            <a:off x="457200" y="3017520"/>
            <a:ext cx="2926080" cy="731520"/>
          </a:xfrm>
          <a:prstGeom prst="roundRect">
            <a:avLst>
              <a:gd name="adj" fmla="val 15000"/>
            </a:avLst>
          </a:prstGeom>
          <a:solidFill>
            <a:srgbClr val="16161F"/>
          </a:solidFill>
          <a:ln w="6350">
            <a:solidFill>
              <a:srgbClr val="16161F"/>
            </a:solidFill>
            <a:prstDash val="solid"/>
          </a:ln>
        </p:spPr>
      </p:sp>
      <p:sp>
        <p:nvSpPr>
          <p:cNvPr id="15" name="Shape 12"/>
          <p:cNvSpPr/>
          <p:nvPr/>
        </p:nvSpPr>
        <p:spPr>
          <a:xfrm>
            <a:off x="594360" y="3200400"/>
            <a:ext cx="365760" cy="365760"/>
          </a:xfrm>
          <a:prstGeom prst="ellipse">
            <a:avLst/>
          </a:prstGeom>
          <a:solidFill>
            <a:srgbClr val="F472B6"/>
          </a:solidFill>
          <a:ln w="6350">
            <a:solidFill>
              <a:srgbClr val="F472B6"/>
            </a:solidFill>
            <a:prstDash val="solid"/>
          </a:ln>
        </p:spPr>
      </p:sp>
      <p:sp>
        <p:nvSpPr>
          <p:cNvPr id="16" name="Text 13"/>
          <p:cNvSpPr txBox="1"/>
          <p:nvPr/>
        </p:nvSpPr>
        <p:spPr>
          <a:xfrm>
            <a:off x="594360" y="3200400"/>
            <a:ext cx="365760" cy="36576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097280" y="3017520"/>
            <a:ext cx="219456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Stable sorting tasks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0" y="1188720"/>
          <a:ext cx="50292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457200">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Average</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Worst</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Extra space</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070C"/>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Merge Sort</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1"/>
                  </a:ext>
                </a:extLst>
              </a:tr>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Quick Sort</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O(log n) avg</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2"/>
                  </a:ext>
                </a:extLst>
              </a:tr>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Bubble Sort</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O(n^2)</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07070C"/>
                      </a:solidFill>
                      <a:prstDash val="solid"/>
                      <a:round/>
                      <a:headEnd type="none" w="med" len="med"/>
                      <a:tailEnd type="none" w="med" len="med"/>
                    </a:lnT>
                    <a:lnB w="12700" cap="flat" cmpd="sng" algn="ctr">
                      <a:solidFill>
                        <a:srgbClr val="07070C"/>
                      </a:solidFill>
                      <a:prstDash val="solid"/>
                      <a:round/>
                      <a:headEnd type="none" w="med" len="med"/>
                      <a:tailEnd type="none" w="med" len="med"/>
                    </a:lnB>
                    <a:solidFill>
                      <a:srgbClr val="16161F"/>
                    </a:solidFill>
                  </a:tcPr>
                </a:tc>
                <a:extLst>
                  <a:ext uri="{0D108BD9-81ED-4DB2-BD59-A6C34878D82A}">
                    <a16:rowId xmlns:a16="http://schemas.microsoft.com/office/drawing/2014/main" val="10003"/>
                  </a:ext>
                </a:extLst>
              </a:tr>
            </a:tbl>
          </a:graphicData>
        </a:graphic>
      </p:graphicFrame>
      <p:sp>
        <p:nvSpPr>
          <p:cNvPr id="19" name="Text 15"/>
          <p:cNvSpPr txBox="1"/>
          <p:nvPr/>
        </p:nvSpPr>
        <p:spPr>
          <a:xfrm>
            <a:off x="3657600" y="3200400"/>
            <a:ext cx="5029200" cy="548640"/>
          </a:xfrm>
          <a:prstGeom prst="rect">
            <a:avLst/>
          </a:prstGeom>
          <a:noFill/>
          <a:ln/>
        </p:spPr>
        <p:txBody>
          <a:bodyPr wrap="square" lIns="0" tIns="0" rIns="0" bIns="0" rtlCol="0" anchor="t"/>
          <a:lstStyle/>
          <a:p>
            <a:pPr marL="0" indent="0">
              <a:buNone/>
            </a:pPr>
            <a:r>
              <a:rPr lang="en-US" sz="1200" i="1" dirty="0">
                <a:solidFill>
                  <a:srgbClr val="B4B4C6"/>
                </a:solidFill>
                <a:latin typeface="Calibri" pitchFamily="34" charset="0"/>
                <a:ea typeface="Calibri" pitchFamily="34" charset="-122"/>
                <a:cs typeface="Calibri" pitchFamily="34" charset="-120"/>
              </a:rPr>
              <a:t>Memory use and practical speed depend on the implementation and the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70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and References</a:t>
            </a:r>
            <a:endParaRPr lang="en-US" sz="3200" dirty="0"/>
          </a:p>
        </p:txBody>
      </p:sp>
      <p:sp>
        <p:nvSpPr>
          <p:cNvPr id="3" name="Text 1"/>
          <p:cNvSpPr txBox="1"/>
          <p:nvPr/>
        </p:nvSpPr>
        <p:spPr>
          <a:xfrm>
            <a:off x="457200" y="4754880"/>
            <a:ext cx="3657600" cy="228600"/>
          </a:xfrm>
          <a:prstGeom prst="rect">
            <a:avLst/>
          </a:prstGeom>
          <a:noFill/>
          <a:ln/>
        </p:spPr>
        <p:txBody>
          <a:bodyPr wrap="square" lIns="0" tIns="0" rIns="0" bIns="0" rtlCol="0" anchor="ctr"/>
          <a:lstStyle/>
          <a:p>
            <a:pPr marL="0" indent="0">
              <a:buNone/>
            </a:pPr>
            <a:r>
              <a:rPr lang="en-US" sz="1000" dirty="0">
                <a:solidFill>
                  <a:srgbClr val="B4B4C6"/>
                </a:solidFill>
                <a:latin typeface="Calibri" pitchFamily="34" charset="0"/>
                <a:ea typeface="Calibri" pitchFamily="34" charset="-122"/>
                <a:cs typeface="Calibri" pitchFamily="34" charset="-120"/>
              </a:rPr>
              <a:t>Merge Sort  |  DAA Lab</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1000" dirty="0">
                <a:solidFill>
                  <a:srgbClr val="B4B4C6"/>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457200" y="1097280"/>
            <a:ext cx="4023360" cy="2880360"/>
          </a:xfrm>
          <a:prstGeom prst="roundRect">
            <a:avLst>
              <a:gd name="adj" fmla="val 3810"/>
            </a:avLst>
          </a:prstGeom>
          <a:solidFill>
            <a:srgbClr val="16161F"/>
          </a:solidFill>
          <a:ln w="15875">
            <a:solidFill>
              <a:srgbClr val="F472B6"/>
            </a:solidFill>
            <a:prstDash val="solid"/>
          </a:ln>
        </p:spPr>
      </p:sp>
      <p:sp>
        <p:nvSpPr>
          <p:cNvPr id="7" name="Text 4"/>
          <p:cNvSpPr txBox="1"/>
          <p:nvPr/>
        </p:nvSpPr>
        <p:spPr>
          <a:xfrm>
            <a:off x="685800" y="1188720"/>
            <a:ext cx="3657600" cy="320040"/>
          </a:xfrm>
          <a:prstGeom prst="rect">
            <a:avLst/>
          </a:prstGeom>
          <a:noFill/>
          <a:ln/>
        </p:spPr>
        <p:txBody>
          <a:bodyPr wrap="square" lIns="0" tIns="0" rIns="0" bIns="0" rtlCol="0" anchor="t"/>
          <a:lstStyle/>
          <a:p>
            <a:pPr marL="0" indent="0">
              <a:buNone/>
            </a:pPr>
            <a:r>
              <a:rPr lang="en-US" sz="2000" b="1" dirty="0">
                <a:solidFill>
                  <a:srgbClr val="F472B6"/>
                </a:solidFill>
                <a:latin typeface="Cambria" pitchFamily="34" charset="0"/>
                <a:ea typeface="Cambria" pitchFamily="34" charset="-122"/>
                <a:cs typeface="Cambria" pitchFamily="34" charset="-120"/>
              </a:rPr>
              <a:t>Summary</a:t>
            </a:r>
            <a:endParaRPr lang="en-US" sz="2000" dirty="0"/>
          </a:p>
        </p:txBody>
      </p:sp>
      <p:sp>
        <p:nvSpPr>
          <p:cNvPr id="8" name="Text 5"/>
          <p:cNvSpPr txBox="1"/>
          <p:nvPr/>
        </p:nvSpPr>
        <p:spPr>
          <a:xfrm>
            <a:off x="685800" y="164592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Divide and Conquer: split, sort, merge</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Correct: merging sorted halves gives sorted output</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Time: O(n log n) in all cases</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Space: O(n) auxiliary, stable</a:t>
            </a:r>
            <a:endParaRPr lang="en-US" sz="1400" dirty="0"/>
          </a:p>
        </p:txBody>
      </p:sp>
      <p:sp>
        <p:nvSpPr>
          <p:cNvPr id="9" name="Shape 6"/>
          <p:cNvSpPr/>
          <p:nvPr/>
        </p:nvSpPr>
        <p:spPr>
          <a:xfrm>
            <a:off x="4754880" y="1097280"/>
            <a:ext cx="3931920" cy="2880360"/>
          </a:xfrm>
          <a:prstGeom prst="roundRect">
            <a:avLst>
              <a:gd name="adj" fmla="val 3810"/>
            </a:avLst>
          </a:prstGeom>
          <a:solidFill>
            <a:srgbClr val="16161F"/>
          </a:solidFill>
          <a:ln w="6350">
            <a:solidFill>
              <a:srgbClr val="16161F"/>
            </a:solidFill>
            <a:prstDash val="solid"/>
          </a:ln>
        </p:spPr>
      </p:sp>
      <p:sp>
        <p:nvSpPr>
          <p:cNvPr id="10" name="Text 7"/>
          <p:cNvSpPr txBox="1"/>
          <p:nvPr/>
        </p:nvSpPr>
        <p:spPr>
          <a:xfrm>
            <a:off x="4983480" y="1188720"/>
            <a:ext cx="3474720" cy="320040"/>
          </a:xfrm>
          <a:prstGeom prst="rect">
            <a:avLst/>
          </a:prstGeom>
          <a:noFill/>
          <a:ln/>
        </p:spPr>
        <p:txBody>
          <a:bodyPr wrap="square" lIns="0" tIns="0" rIns="0" bIns="0" rtlCol="0" anchor="t"/>
          <a:lstStyle/>
          <a:p>
            <a:pPr marL="0" indent="0">
              <a:buNone/>
            </a:pPr>
            <a:r>
              <a:rPr lang="en-US" sz="2000" b="1" dirty="0">
                <a:solidFill>
                  <a:srgbClr val="22D3EE"/>
                </a:solidFill>
                <a:latin typeface="Cambria" pitchFamily="34" charset="0"/>
                <a:ea typeface="Cambria" pitchFamily="34" charset="-122"/>
                <a:cs typeface="Cambria" pitchFamily="34" charset="-120"/>
              </a:rPr>
              <a:t>References</a:t>
            </a:r>
            <a:endParaRPr lang="en-US" sz="2000" dirty="0"/>
          </a:p>
        </p:txBody>
      </p:sp>
      <p:sp>
        <p:nvSpPr>
          <p:cNvPr id="11" name="Text 8"/>
          <p:cNvSpPr txBox="1"/>
          <p:nvPr/>
        </p:nvSpPr>
        <p:spPr>
          <a:xfrm>
            <a:off x="4983480" y="1645920"/>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Cormen, Leiserson, Rivest, Stein: Introduction to Algorithms</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GeeksforGeeks: Merge Sort</a:t>
            </a:r>
            <a:endParaRPr lang="en-US" sz="1400" dirty="0"/>
          </a:p>
          <a:p>
            <a:pPr marL="342900" indent="-342900">
              <a:spcAft>
                <a:spcPts val="600"/>
              </a:spcAft>
              <a:buSzPct val="100000"/>
              <a:buChar char="•"/>
            </a:pPr>
            <a:r>
              <a:rPr lang="en-US" sz="1400" dirty="0">
                <a:solidFill>
                  <a:srgbClr val="B4B4C6"/>
                </a:solidFill>
                <a:latin typeface="Calibri" pitchFamily="34" charset="0"/>
                <a:ea typeface="Calibri" pitchFamily="34" charset="-122"/>
                <a:cs typeface="Calibri" pitchFamily="34" charset="-120"/>
              </a:rPr>
              <a:t>Programiz: Merge Sort Algorithm</a:t>
            </a:r>
            <a:endParaRPr lang="en-US" sz="1400" dirty="0"/>
          </a:p>
        </p:txBody>
      </p:sp>
      <p:sp>
        <p:nvSpPr>
          <p:cNvPr id="12" name="Text 9"/>
          <p:cNvSpPr txBox="1"/>
          <p:nvPr/>
        </p:nvSpPr>
        <p:spPr>
          <a:xfrm>
            <a:off x="457200" y="4206240"/>
            <a:ext cx="5486400" cy="320040"/>
          </a:xfrm>
          <a:prstGeom prst="rect">
            <a:avLst/>
          </a:prstGeom>
          <a:noFill/>
          <a:ln/>
        </p:spPr>
        <p:txBody>
          <a:bodyPr wrap="square" lIns="0" tIns="0" rIns="0" bIns="0" rtlCol="0" anchor="t"/>
          <a:lstStyle/>
          <a:p>
            <a:pPr marL="0" indent="0">
              <a:buNone/>
            </a:pPr>
            <a:r>
              <a:rPr lang="en-US" sz="1400" b="1" i="1" dirty="0">
                <a:solidFill>
                  <a:srgbClr val="F472B6"/>
                </a:solidFill>
                <a:latin typeface="Calibri" pitchFamily="34" charset="0"/>
                <a:ea typeface="Calibri" pitchFamily="34" charset="-122"/>
                <a:cs typeface="Calibri" pitchFamily="34" charset="-120"/>
              </a:rPr>
              <a:t>Presentation generated using Claude AI.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70C"/>
        </a:solidFill>
        <a:effectLst/>
      </p:bgPr>
    </p:bg>
    <p:spTree>
      <p:nvGrpSpPr>
        <p:cNvPr id="1" name=""/>
        <p:cNvGrpSpPr/>
        <p:nvPr/>
      </p:nvGrpSpPr>
      <p:grpSpPr>
        <a:xfrm>
          <a:off x="0" y="0"/>
          <a:ext cx="0" cy="0"/>
          <a:chOff x="0" y="0"/>
          <a:chExt cx="0" cy="0"/>
        </a:xfrm>
      </p:grpSpPr>
      <p:sp>
        <p:nvSpPr>
          <p:cNvPr id="2" name="Shape 0"/>
          <p:cNvSpPr/>
          <p:nvPr/>
        </p:nvSpPr>
        <p:spPr>
          <a:xfrm>
            <a:off x="6035040" y="457200"/>
            <a:ext cx="2926080" cy="2926080"/>
          </a:xfrm>
          <a:prstGeom prst="ellipse">
            <a:avLst/>
          </a:prstGeom>
          <a:solidFill>
            <a:srgbClr val="F472B6">
              <a:alpha val="25000"/>
            </a:srgbClr>
          </a:solidFill>
          <a:ln w="12700">
            <a:solidFill>
              <a:srgbClr val="F472B6"/>
            </a:solidFill>
            <a:prstDash val="solid"/>
          </a:ln>
        </p:spPr>
      </p:sp>
      <p:sp>
        <p:nvSpPr>
          <p:cNvPr id="3" name="Shape 1"/>
          <p:cNvSpPr/>
          <p:nvPr/>
        </p:nvSpPr>
        <p:spPr>
          <a:xfrm>
            <a:off x="6949440" y="2194560"/>
            <a:ext cx="2011680" cy="2011680"/>
          </a:xfrm>
          <a:prstGeom prst="ellipse">
            <a:avLst/>
          </a:prstGeom>
          <a:solidFill>
            <a:srgbClr val="22D3EE">
              <a:alpha val="30000"/>
            </a:srgbClr>
          </a:solidFill>
          <a:ln w="12700">
            <a:solidFill>
              <a:srgbClr val="22D3EE"/>
            </a:solidFill>
            <a:prstDash val="solid"/>
          </a:ln>
        </p:spPr>
      </p:sp>
      <p:sp>
        <p:nvSpPr>
          <p:cNvPr id="4" name="Shape 2"/>
          <p:cNvSpPr/>
          <p:nvPr/>
        </p:nvSpPr>
        <p:spPr>
          <a:xfrm>
            <a:off x="548640" y="3108960"/>
            <a:ext cx="457200" cy="411480"/>
          </a:xfrm>
          <a:prstGeom prst="roundRect">
            <a:avLst>
              <a:gd name="adj" fmla="val 13333"/>
            </a:avLst>
          </a:prstGeom>
          <a:solidFill>
            <a:srgbClr val="34D399"/>
          </a:solidFill>
          <a:ln w="6350">
            <a:solidFill>
              <a:srgbClr val="34D399"/>
            </a:solidFill>
            <a:prstDash val="solid"/>
          </a:ln>
        </p:spPr>
      </p:sp>
      <p:sp>
        <p:nvSpPr>
          <p:cNvPr id="5" name="Text 3"/>
          <p:cNvSpPr txBox="1"/>
          <p:nvPr/>
        </p:nvSpPr>
        <p:spPr>
          <a:xfrm>
            <a:off x="54864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a:t>
            </a:r>
            <a:endParaRPr lang="en-US" sz="1400" dirty="0"/>
          </a:p>
        </p:txBody>
      </p:sp>
      <p:sp>
        <p:nvSpPr>
          <p:cNvPr id="6" name="Shape 4"/>
          <p:cNvSpPr/>
          <p:nvPr/>
        </p:nvSpPr>
        <p:spPr>
          <a:xfrm>
            <a:off x="1097280" y="3108960"/>
            <a:ext cx="457200" cy="411480"/>
          </a:xfrm>
          <a:prstGeom prst="roundRect">
            <a:avLst>
              <a:gd name="adj" fmla="val 13333"/>
            </a:avLst>
          </a:prstGeom>
          <a:solidFill>
            <a:srgbClr val="34D399"/>
          </a:solidFill>
          <a:ln w="6350">
            <a:solidFill>
              <a:srgbClr val="34D399"/>
            </a:solidFill>
            <a:prstDash val="solid"/>
          </a:ln>
        </p:spPr>
      </p:sp>
      <p:sp>
        <p:nvSpPr>
          <p:cNvPr id="7" name="Text 5"/>
          <p:cNvSpPr txBox="1"/>
          <p:nvPr/>
        </p:nvSpPr>
        <p:spPr>
          <a:xfrm>
            <a:off x="109728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9</a:t>
            </a:r>
            <a:endParaRPr lang="en-US" sz="1400" dirty="0"/>
          </a:p>
        </p:txBody>
      </p:sp>
      <p:sp>
        <p:nvSpPr>
          <p:cNvPr id="8" name="Shape 6"/>
          <p:cNvSpPr/>
          <p:nvPr/>
        </p:nvSpPr>
        <p:spPr>
          <a:xfrm>
            <a:off x="1645920" y="3108960"/>
            <a:ext cx="457200" cy="411480"/>
          </a:xfrm>
          <a:prstGeom prst="roundRect">
            <a:avLst>
              <a:gd name="adj" fmla="val 13333"/>
            </a:avLst>
          </a:prstGeom>
          <a:solidFill>
            <a:srgbClr val="34D399"/>
          </a:solidFill>
          <a:ln w="6350">
            <a:solidFill>
              <a:srgbClr val="34D399"/>
            </a:solidFill>
            <a:prstDash val="solid"/>
          </a:ln>
        </p:spPr>
      </p:sp>
      <p:sp>
        <p:nvSpPr>
          <p:cNvPr id="9" name="Text 7"/>
          <p:cNvSpPr txBox="1"/>
          <p:nvPr/>
        </p:nvSpPr>
        <p:spPr>
          <a:xfrm>
            <a:off x="164592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10</a:t>
            </a:r>
            <a:endParaRPr lang="en-US" sz="1400" dirty="0"/>
          </a:p>
        </p:txBody>
      </p:sp>
      <p:sp>
        <p:nvSpPr>
          <p:cNvPr id="10" name="Shape 8"/>
          <p:cNvSpPr/>
          <p:nvPr/>
        </p:nvSpPr>
        <p:spPr>
          <a:xfrm>
            <a:off x="2194560" y="3108960"/>
            <a:ext cx="457200" cy="411480"/>
          </a:xfrm>
          <a:prstGeom prst="roundRect">
            <a:avLst>
              <a:gd name="adj" fmla="val 13333"/>
            </a:avLst>
          </a:prstGeom>
          <a:solidFill>
            <a:srgbClr val="34D399"/>
          </a:solidFill>
          <a:ln w="6350">
            <a:solidFill>
              <a:srgbClr val="34D399"/>
            </a:solidFill>
            <a:prstDash val="solid"/>
          </a:ln>
        </p:spPr>
      </p:sp>
      <p:sp>
        <p:nvSpPr>
          <p:cNvPr id="11" name="Text 9"/>
          <p:cNvSpPr txBox="1"/>
          <p:nvPr/>
        </p:nvSpPr>
        <p:spPr>
          <a:xfrm>
            <a:off x="219456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27</a:t>
            </a:r>
            <a:endParaRPr lang="en-US" sz="1400" dirty="0"/>
          </a:p>
        </p:txBody>
      </p:sp>
      <p:sp>
        <p:nvSpPr>
          <p:cNvPr id="12" name="Shape 10"/>
          <p:cNvSpPr/>
          <p:nvPr/>
        </p:nvSpPr>
        <p:spPr>
          <a:xfrm>
            <a:off x="2743200" y="3108960"/>
            <a:ext cx="457200" cy="411480"/>
          </a:xfrm>
          <a:prstGeom prst="roundRect">
            <a:avLst>
              <a:gd name="adj" fmla="val 13333"/>
            </a:avLst>
          </a:prstGeom>
          <a:solidFill>
            <a:srgbClr val="34D399"/>
          </a:solidFill>
          <a:ln w="6350">
            <a:solidFill>
              <a:srgbClr val="34D399"/>
            </a:solidFill>
            <a:prstDash val="solid"/>
          </a:ln>
        </p:spPr>
      </p:sp>
      <p:sp>
        <p:nvSpPr>
          <p:cNvPr id="13" name="Text 11"/>
          <p:cNvSpPr txBox="1"/>
          <p:nvPr/>
        </p:nvSpPr>
        <p:spPr>
          <a:xfrm>
            <a:off x="274320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38</a:t>
            </a:r>
            <a:endParaRPr lang="en-US" sz="1400" dirty="0"/>
          </a:p>
        </p:txBody>
      </p:sp>
      <p:sp>
        <p:nvSpPr>
          <p:cNvPr id="14" name="Shape 12"/>
          <p:cNvSpPr/>
          <p:nvPr/>
        </p:nvSpPr>
        <p:spPr>
          <a:xfrm>
            <a:off x="3291840" y="3108960"/>
            <a:ext cx="457200" cy="411480"/>
          </a:xfrm>
          <a:prstGeom prst="roundRect">
            <a:avLst>
              <a:gd name="adj" fmla="val 13333"/>
            </a:avLst>
          </a:prstGeom>
          <a:solidFill>
            <a:srgbClr val="34D399"/>
          </a:solidFill>
          <a:ln w="6350">
            <a:solidFill>
              <a:srgbClr val="34D399"/>
            </a:solidFill>
            <a:prstDash val="solid"/>
          </a:ln>
        </p:spPr>
      </p:sp>
      <p:sp>
        <p:nvSpPr>
          <p:cNvPr id="15" name="Text 13"/>
          <p:cNvSpPr txBox="1"/>
          <p:nvPr/>
        </p:nvSpPr>
        <p:spPr>
          <a:xfrm>
            <a:off x="329184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43</a:t>
            </a:r>
            <a:endParaRPr lang="en-US" sz="1400" dirty="0"/>
          </a:p>
        </p:txBody>
      </p:sp>
      <p:sp>
        <p:nvSpPr>
          <p:cNvPr id="16" name="Shape 14"/>
          <p:cNvSpPr/>
          <p:nvPr/>
        </p:nvSpPr>
        <p:spPr>
          <a:xfrm>
            <a:off x="3840480" y="3108960"/>
            <a:ext cx="457200" cy="411480"/>
          </a:xfrm>
          <a:prstGeom prst="roundRect">
            <a:avLst>
              <a:gd name="adj" fmla="val 13333"/>
            </a:avLst>
          </a:prstGeom>
          <a:solidFill>
            <a:srgbClr val="34D399"/>
          </a:solidFill>
          <a:ln w="6350">
            <a:solidFill>
              <a:srgbClr val="34D399"/>
            </a:solidFill>
            <a:prstDash val="solid"/>
          </a:ln>
        </p:spPr>
      </p:sp>
      <p:sp>
        <p:nvSpPr>
          <p:cNvPr id="17" name="Text 15"/>
          <p:cNvSpPr txBox="1"/>
          <p:nvPr/>
        </p:nvSpPr>
        <p:spPr>
          <a:xfrm>
            <a:off x="3840480" y="3108960"/>
            <a:ext cx="457200" cy="411480"/>
          </a:xfrm>
          <a:prstGeom prst="rect">
            <a:avLst/>
          </a:prstGeom>
          <a:noFill/>
          <a:ln/>
        </p:spPr>
        <p:txBody>
          <a:bodyPr wrap="square" lIns="0" tIns="0" rIns="0" bIns="0" rtlCol="0" anchor="ctr"/>
          <a:lstStyle/>
          <a:p>
            <a:pPr marL="0" indent="0" algn="ctr">
              <a:buNone/>
            </a:pPr>
            <a:r>
              <a:rPr lang="en-US" sz="1400" b="1" dirty="0">
                <a:solidFill>
                  <a:srgbClr val="07070C"/>
                </a:solidFill>
                <a:latin typeface="Calibri" pitchFamily="34" charset="0"/>
                <a:ea typeface="Calibri" pitchFamily="34" charset="-122"/>
                <a:cs typeface="Calibri" pitchFamily="34" charset="-120"/>
              </a:rPr>
              <a:t>82</a:t>
            </a:r>
            <a:endParaRPr lang="en-US" sz="1400" dirty="0"/>
          </a:p>
        </p:txBody>
      </p:sp>
      <p:sp>
        <p:nvSpPr>
          <p:cNvPr id="18" name="Text 16"/>
          <p:cNvSpPr txBox="1"/>
          <p:nvPr/>
        </p:nvSpPr>
        <p:spPr>
          <a:xfrm>
            <a:off x="548640" y="1531620"/>
            <a:ext cx="5486400" cy="91440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19" name="Text 17"/>
          <p:cNvSpPr txBox="1"/>
          <p:nvPr/>
        </p:nvSpPr>
        <p:spPr>
          <a:xfrm>
            <a:off x="548640" y="2103120"/>
            <a:ext cx="5486400" cy="457200"/>
          </a:xfrm>
          <a:prstGeom prst="rect">
            <a:avLst/>
          </a:prstGeom>
          <a:noFill/>
          <a:ln/>
        </p:spPr>
        <p:txBody>
          <a:bodyPr wrap="square" lIns="0" tIns="0" rIns="0" bIns="0" rtlCol="0" anchor="t"/>
          <a:lstStyle/>
          <a:p>
            <a:pPr marL="0" indent="0">
              <a:buNone/>
            </a:pPr>
            <a:endParaRPr lang="en-US" sz="2200" dirty="0"/>
          </a:p>
        </p:txBody>
      </p:sp>
      <p:sp>
        <p:nvSpPr>
          <p:cNvPr id="20" name="Text 18"/>
          <p:cNvSpPr txBox="1"/>
          <p:nvPr/>
        </p:nvSpPr>
        <p:spPr>
          <a:xfrm>
            <a:off x="548640" y="3931920"/>
            <a:ext cx="5943600" cy="320040"/>
          </a:xfrm>
          <a:prstGeom prst="rect">
            <a:avLst/>
          </a:prstGeom>
          <a:noFill/>
          <a:ln/>
        </p:spPr>
        <p:txBody>
          <a:bodyPr wrap="square" lIns="0" tIns="0" rIns="0" bIns="0" rtlCol="0" anchor="t"/>
          <a:lstStyle/>
          <a:p>
            <a:pPr marL="0" indent="0">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1594</Words>
  <Application>Microsoft Office PowerPoint</Application>
  <PresentationFormat>On-screen Show (16:9)</PresentationFormat>
  <Paragraphs>299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dc:title>
  <dc:subject>PptxGenJS Presentation</dc:subject>
  <dc:creator>Jiya Baghel</dc:creator>
  <cp:lastModifiedBy>Jiya Baghel</cp:lastModifiedBy>
  <cp:revision>2</cp:revision>
  <dcterms:created xsi:type="dcterms:W3CDTF">2026-10-19T08:32:33Z</dcterms:created>
  <dcterms:modified xsi:type="dcterms:W3CDTF">2026-10-19T08:34:27Z</dcterms:modified>
</cp:coreProperties>
</file>